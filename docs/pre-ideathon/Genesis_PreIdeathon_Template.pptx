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0"/>
  </p:notesMasterIdLst>
  <p:sldIdLst>
    <p:sldId id="256" r:id="rId2"/>
    <p:sldId id="257" r:id="rId3"/>
    <p:sldId id="258" r:id="rId4"/>
    <p:sldId id="259" r:id="rId5"/>
    <p:sldId id="260" r:id="rId6"/>
    <p:sldId id="261" r:id="rId7"/>
    <p:sldId id="262" r:id="rId8"/>
    <p:sldId id="263" r:id="rId9"/>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Genesis Ideathon" id="{738414BB-E90B-39D7-38DA-935763612684}">
          <p14:sldIdLst>
            <p14:sldId id="256"/>
            <p14:sldId id="257"/>
            <p14:sldId id="258"/>
            <p14:sldId id="259"/>
            <p14:sldId id="260"/>
            <p14:sldId id="261"/>
            <p14:sldId id="262"/>
            <p14:sldId id="263"/>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7085" autoAdjust="0"/>
    <p:restoredTop sz="94610"/>
  </p:normalViewPr>
  <p:slideViewPr>
    <p:cSldViewPr snapToGrid="0" snapToObjects="1">
      <p:cViewPr varScale="1">
        <p:scale>
          <a:sx n="82" d="100"/>
          <a:sy n="82" d="100"/>
        </p:scale>
        <p:origin x="624"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presProps" Target="presProps.xml"/><Relationship Id="rId5" Type="http://schemas.openxmlformats.org/officeDocument/2006/relationships/slide" Target="slides/slide4.xml"/><Relationship Id="rId10"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74198266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GENESIS COVER">
    <p:bg>
      <p:bgPr>
        <a:solidFill>
          <a:schemeClr val="tx2"/>
        </a:solidFill>
        <a:effectLst/>
      </p:bgPr>
    </p:bg>
    <p:spTree>
      <p:nvGrpSpPr>
        <p:cNvPr id="1" name=""/>
        <p:cNvGrpSpPr/>
        <p:nvPr/>
      </p:nvGrpSpPr>
      <p:grpSpPr>
        <a:xfrm>
          <a:off x="0" y="0"/>
          <a:ext cx="0" cy="0"/>
          <a:chOff x="0" y="0"/>
          <a:chExt cx="0" cy="0"/>
        </a:xfrm>
      </p:grpSpPr>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GENESIS CONTENT">
    <p:bg>
      <p:bgPr>
        <a:solidFill>
          <a:schemeClr val="bg2"/>
        </a:solidFill>
        <a:effectLst/>
      </p:bgPr>
    </p:bg>
    <p:spTree>
      <p:nvGrpSpPr>
        <p:cNvPr id="1" name=""/>
        <p:cNvGrpSpPr/>
        <p:nvPr/>
      </p:nvGrpSpPr>
      <p:grpSpPr>
        <a:xfrm>
          <a:off x="0" y="0"/>
          <a:ext cx="0" cy="0"/>
          <a:chOff x="0" y="0"/>
          <a:chExt cx="0" cy="0"/>
        </a:xfrm>
      </p:grpSpPr>
      <p:sp>
        <p:nvSpPr>
          <p:cNvPr id="2" name="Text 0"/>
          <p:cNvSpPr/>
          <p:nvPr/>
        </p:nvSpPr>
        <p:spPr>
          <a:xfrm>
            <a:off x="10911535" y="320040"/>
            <a:ext cx="822960" cy="822960"/>
          </a:xfrm>
          <a:prstGeom prst="roundRect">
            <a:avLst>
              <a:gd name="adj" fmla="val 13333"/>
            </a:avLst>
          </a:prstGeom>
          <a:solidFill>
            <a:schemeClr val="bg1"/>
          </a:solidFill>
          <a:ln w="9525">
            <a:solidFill>
              <a:schemeClr val="accent6"/>
            </a:solidFill>
          </a:ln>
        </p:spPr>
        <p:txBody>
          <a:bodyPr wrap="square" rtlCol="0" anchor="ctr"/>
          <a:lstStyle/>
          <a:p>
            <a:pPr marL="0" indent="0">
              <a:buNone/>
            </a:pPr>
            <a:endParaRPr lang="en-US" dirty="0"/>
          </a:p>
        </p:txBody>
      </p:sp>
      <p:pic>
        <p:nvPicPr>
          <p:cNvPr id="3" name="Image 0" descr="Genesis logo"/>
          <p:cNvPicPr>
            <a:picLocks noChangeAspect="1"/>
          </p:cNvPicPr>
          <p:nvPr/>
        </p:nvPicPr>
        <p:blipFill>
          <a:blip r:embed="rId2"/>
          <a:stretch>
            <a:fillRect/>
          </a:stretch>
        </p:blipFill>
        <p:spPr>
          <a:xfrm>
            <a:off x="11055950" y="384048"/>
            <a:ext cx="534131" cy="694944"/>
          </a:xfrm>
          <a:prstGeom prst="rect">
            <a:avLst/>
          </a:prstGeom>
        </p:spPr>
      </p:pic>
      <p:sp>
        <p:nvSpPr>
          <p:cNvPr id="4" name="Shape 1"/>
          <p:cNvSpPr/>
          <p:nvPr/>
        </p:nvSpPr>
        <p:spPr>
          <a:xfrm>
            <a:off x="0" y="6355080"/>
            <a:ext cx="12191695" cy="502920"/>
          </a:xfrm>
          <a:prstGeom prst="rect">
            <a:avLst/>
          </a:prstGeom>
          <a:solidFill>
            <a:schemeClr val="tx2"/>
          </a:solidFill>
          <a:ln/>
        </p:spPr>
      </p:sp>
      <p:sp>
        <p:nvSpPr>
          <p:cNvPr id="5" name="Text 2"/>
          <p:cNvSpPr/>
          <p:nvPr/>
        </p:nvSpPr>
        <p:spPr>
          <a:xfrm>
            <a:off x="2286000" y="6355080"/>
            <a:ext cx="7619695" cy="502920"/>
          </a:xfrm>
          <a:prstGeom prst="rect">
            <a:avLst/>
          </a:prstGeom>
          <a:noFill/>
          <a:ln/>
        </p:spPr>
        <p:txBody>
          <a:bodyPr wrap="square" lIns="0" tIns="0" rIns="0" bIns="0" rtlCol="0" anchor="ctr"/>
          <a:lstStyle/>
          <a:p>
            <a:pPr marL="0" indent="0" algn="ctr">
              <a:buNone/>
            </a:pPr>
            <a:r>
              <a:rPr lang="en-US" sz="1050" kern="0" spc="100" dirty="0">
                <a:solidFill>
                  <a:schemeClr val="accent6"/>
                </a:solidFill>
              </a:rPr>
              <a:t>Genesis Ideathon – Pre-Ideathon Template</a:t>
            </a:r>
            <a:endParaRPr lang="en-US" sz="1050" dirty="0"/>
          </a:p>
        </p:txBody>
      </p:sp>
      <p:sp>
        <p:nvSpPr>
          <p:cNvPr id="6" name="Text 3"/>
          <p:cNvSpPr/>
          <p:nvPr/>
        </p:nvSpPr>
        <p:spPr>
          <a:xfrm>
            <a:off x="11259007" y="6409944"/>
            <a:ext cx="457200" cy="395935"/>
          </a:xfrm>
          <a:prstGeom prst="hexagon">
            <a:avLst/>
          </a:prstGeom>
          <a:solidFill>
            <a:schemeClr val="accent3"/>
          </a:solidFill>
          <a:ln/>
        </p:spPr>
        <p:txBody>
          <a:bodyPr wrap="square" rtlCol="0" anchor="ctr"/>
          <a:lstStyle/>
          <a:p>
            <a:pPr marL="0" indent="0">
              <a:buNone/>
            </a:pPr>
            <a:endParaRPr lang="en-US" dirty="0"/>
          </a:p>
        </p:txBody>
      </p:sp>
      <p:sp>
        <p:nvSpPr>
          <p:cNvPr id="7" name="Text 4"/>
          <p:cNvSpPr/>
          <p:nvPr/>
        </p:nvSpPr>
        <p:spPr>
          <a:xfrm rot="5400000">
            <a:off x="10610311" y="4686300"/>
            <a:ext cx="1425408" cy="1234440"/>
          </a:xfrm>
          <a:prstGeom prst="hexagon">
            <a:avLst/>
          </a:prstGeom>
          <a:ln w="15875">
            <a:solidFill>
              <a:schemeClr val="accent4">
                <a:alpha val="28000"/>
              </a:schemeClr>
            </a:solidFill>
          </a:ln>
        </p:spPr>
        <p:txBody>
          <a:bodyPr wrap="square" rtlCol="0" anchor="ctr"/>
          <a:lstStyle/>
          <a:p>
            <a:pPr marL="0" indent="0">
              <a:buNone/>
            </a:pPr>
            <a:endParaRPr lang="en-US" dirty="0"/>
          </a:p>
        </p:txBody>
      </p:sp>
      <p:sp>
        <p:nvSpPr>
          <p:cNvPr id="8" name="Text 5"/>
          <p:cNvSpPr/>
          <p:nvPr/>
        </p:nvSpPr>
        <p:spPr>
          <a:xfrm rot="5400000">
            <a:off x="9750599" y="5349240"/>
            <a:ext cx="950272" cy="822960"/>
          </a:xfrm>
          <a:prstGeom prst="hexagon">
            <a:avLst/>
          </a:prstGeom>
          <a:ln w="15875">
            <a:solidFill>
              <a:schemeClr val="accent4">
                <a:alpha val="20000"/>
              </a:schemeClr>
            </a:solidFill>
          </a:ln>
        </p:spPr>
        <p:txBody>
          <a:bodyPr wrap="square" rtlCol="0" anchor="ctr"/>
          <a:lstStyle/>
          <a:p>
            <a:pPr marL="0" indent="0">
              <a:buNone/>
            </a:pPr>
            <a:endParaRPr lang="en-US" dirty="0"/>
          </a:p>
        </p:txBody>
      </p:sp>
      <p:sp>
        <p:nvSpPr>
          <p:cNvPr id="9" name="Text 6"/>
          <p:cNvSpPr/>
          <p:nvPr/>
        </p:nvSpPr>
        <p:spPr>
          <a:xfrm rot="5400000">
            <a:off x="11579399" y="3840480"/>
            <a:ext cx="950272" cy="822960"/>
          </a:xfrm>
          <a:prstGeom prst="hexagon">
            <a:avLst/>
          </a:prstGeom>
          <a:ln w="15875">
            <a:solidFill>
              <a:schemeClr val="accent4">
                <a:alpha val="18000"/>
              </a:schemeClr>
            </a:solidFill>
          </a:ln>
        </p:spPr>
        <p:txBody>
          <a:bodyPr wrap="square" rtlCol="0" anchor="ctr"/>
          <a:lstStyle/>
          <a:p>
            <a:pPr marL="0" indent="0">
              <a:buNone/>
            </a:pPr>
            <a:endParaRPr lang="en-US" dirty="0"/>
          </a:p>
        </p:txBody>
      </p:sp>
      <p:sp>
        <p:nvSpPr>
          <p:cNvPr id="10" name="Text 7"/>
          <p:cNvSpPr>
            <a:spLocks noGrp="1"/>
          </p:cNvSpPr>
          <p:nvPr>
            <p:ph type="title" idx="108" hasCustomPrompt="1"/>
          </p:nvPr>
        </p:nvSpPr>
        <p:spPr>
          <a:xfrm>
            <a:off x="3246120" y="320040"/>
            <a:ext cx="7498080" cy="822960"/>
          </a:xfrm>
          <a:prstGeom prst="rect">
            <a:avLst/>
          </a:prstGeom>
          <a:noFill/>
          <a:ln/>
        </p:spPr>
        <p:txBody>
          <a:bodyPr wrap="square" rtlCol="0"/>
          <a:lstStyle>
            <a:lvl1pPr marL="0" indent="0" algn="ctr">
              <a:buNone/>
              <a:defRPr lang="en-US" sz="2400" b="1" kern="0" spc="100" dirty="0">
                <a:solidFill>
                  <a:schemeClr val="tx2"/>
                </a:solidFill>
                <a:latin typeface="Cambria" pitchFamily="34" charset="0"/>
                <a:ea typeface="Cambria" pitchFamily="34" charset="-122"/>
                <a:cs typeface="Cambria" pitchFamily="34" charset="-120"/>
              </a:defRPr>
            </a:lvl1pPr>
          </a:lstStyle>
          <a:p>
            <a:pPr marL="0" indent="0" algn="ctr">
              <a:buNone/>
            </a:pPr>
            <a:r>
              <a:rPr lang="en-US" sz="2400" b="1" kern="0" spc="100" dirty="0">
                <a:solidFill>
                  <a:schemeClr val="tx2"/>
                </a:solidFill>
                <a:latin typeface="Cambria" pitchFamily="34" charset="0"/>
                <a:ea typeface="Cambria" pitchFamily="34" charset="-122"/>
                <a:cs typeface="Cambria" pitchFamily="34" charset="-120"/>
              </a:rPr>
              <a:t>SLIDE TITLE</a:t>
            </a:r>
            <a:endParaRPr lang="en-US" sz="2400" dirty="0"/>
          </a:p>
        </p:txBody>
      </p:sp>
      <p:sp>
        <p:nvSpPr>
          <p:cNvPr id="25" name="Slide Number Placeholder 0"/>
          <p:cNvSpPr>
            <a:spLocks noGrp="1"/>
          </p:cNvSpPr>
          <p:nvPr>
            <p:ph type="sldNum" sz="quarter" idx="4294967295"/>
          </p:nvPr>
        </p:nvSpPr>
        <p:spPr>
          <a:xfrm>
            <a:off x="11259007" y="6409944"/>
            <a:ext cx="457200" cy="395935"/>
          </a:xfrm>
          <a:prstGeom prst="rect">
            <a:avLst/>
          </a:prstGeom>
          <a:extLst>
            <a:ext uri="{C572A759-6A51-4108-AA02-DFA0A04FC94B}">
              <ma14:wrappingTextBoxFlag xmlns:ma14="http://schemas.microsoft.com/office/mac/drawingml/2011/main" xmlns="" val="0"/>
            </a:ext>
          </a:extLst>
        </p:spPr>
        <p:txBody>
          <a:bodyPr lIns="0" tIns="0" rIns="0" bIns="0" anchor="ctr"/>
          <a:lstStyle>
            <a:lvl1pPr>
              <a:defRPr sz="1100">
                <a:solidFill>
                  <a:schemeClr val="tx2"/>
                </a:solidFill>
                <a:latin typeface="Calibri"/>
                <a:ea typeface="Calibri"/>
                <a:cs typeface="Calibri"/>
              </a:defRPr>
            </a:lvl1pPr>
          </a:lstStyle>
          <a:p>
            <a:pPr algn="ctr"/>
            <a:fld id="{F7021451-1387-4CA6-816F-3879F97B5CBC}" type="slidenum">
              <a:rPr lang="en-US" b="1"/>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259007" y="6409944"/>
            <a:ext cx="457200" cy="395935"/>
          </a:xfrm>
          <a:prstGeom prst="rect">
            <a:avLst/>
          </a:prstGeom>
          <a:extLst>
            <a:ext uri="{C572A759-6A51-4108-AA02-DFA0A04FC94B}">
              <ma14:wrappingTextBoxFlag xmlns:ma14="http://schemas.microsoft.com/office/mac/drawingml/2011/main" xmlns="" val="0"/>
            </a:ext>
          </a:extLst>
        </p:spPr>
        <p:txBody>
          <a:bodyPr lIns="0" tIns="0" rIns="0" bIns="0" anchor="ctr"/>
          <a:lstStyle>
            <a:lvl1pPr>
              <a:defRPr sz="1100">
                <a:solidFill>
                  <a:schemeClr val="tx2"/>
                </a:solidFill>
                <a:latin typeface="Calibri"/>
                <a:ea typeface="Calibri"/>
                <a:cs typeface="Calibri"/>
              </a:defRPr>
            </a:lvl1pPr>
          </a:lstStyle>
          <a:p>
            <a:pPr algn="ctr"/>
            <a:fld id="{F7021451-1387-4CA6-816F-3879F97B5CBC}" type="slidenum">
              <a:rPr lang="en-US" b="1"/>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3.xml"/><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3.xml"/><Relationship Id="rId4" Type="http://schemas.openxmlformats.org/officeDocument/2006/relationships/image" Target="../media/image3.png"/></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3.xml"/><Relationship Id="rId4" Type="http://schemas.openxmlformats.org/officeDocument/2006/relationships/image" Target="../media/image3.png"/></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xml"/><Relationship Id="rId1" Type="http://schemas.openxmlformats.org/officeDocument/2006/relationships/slideLayout" Target="../slideLayouts/slideLayout3.xml"/><Relationship Id="rId4" Type="http://schemas.openxmlformats.org/officeDocument/2006/relationships/image" Target="../media/image3.png"/></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xml"/><Relationship Id="rId1" Type="http://schemas.openxmlformats.org/officeDocument/2006/relationships/slideLayout" Target="../slideLayouts/slideLayout3.xml"/><Relationship Id="rId4" Type="http://schemas.openxmlformats.org/officeDocument/2006/relationships/image" Target="../media/image3.png"/></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7.xml"/><Relationship Id="rId1" Type="http://schemas.openxmlformats.org/officeDocument/2006/relationships/slideLayout" Target="../slideLayouts/slideLayout3.xml"/><Relationship Id="rId4" Type="http://schemas.openxmlformats.org/officeDocument/2006/relationships/image" Target="../media/image3.png"/></Relationships>
</file>

<file path=ppt/slides/_rels/slide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8.xml"/><Relationship Id="rId1" Type="http://schemas.openxmlformats.org/officeDocument/2006/relationships/slideLayout" Target="../slideLayouts/slideLayout3.xml"/><Relationship Id="rId4" Type="http://schemas.openxmlformats.org/officeDocument/2006/relationships/image" Target="../media/image3.png"/></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Cover Hexagon"/>
          <p:cNvSpPr/>
          <p:nvPr/>
        </p:nvSpPr>
        <p:spPr>
          <a:xfrm rot="5400000">
            <a:off x="8841585" y="-1222527"/>
            <a:ext cx="3695502" cy="3200400"/>
          </a:xfrm>
          <a:prstGeom prst="hexagon">
            <a:avLst/>
          </a:prstGeom>
          <a:ln w="15875">
            <a:solidFill>
              <a:schemeClr val="accent4">
                <a:alpha val="50000"/>
              </a:schemeClr>
            </a:solidFill>
            <a:prstDash val="solid"/>
          </a:ln>
        </p:spPr>
      </p:sp>
      <p:sp>
        <p:nvSpPr>
          <p:cNvPr id="3" name="Cover Hexagon"/>
          <p:cNvSpPr/>
          <p:nvPr/>
        </p:nvSpPr>
        <p:spPr>
          <a:xfrm rot="5400000">
            <a:off x="10524081" y="1691640"/>
            <a:ext cx="3695502" cy="3200400"/>
          </a:xfrm>
          <a:prstGeom prst="hexagon">
            <a:avLst/>
          </a:prstGeom>
          <a:solidFill>
            <a:schemeClr val="accent1">
              <a:alpha val="25000"/>
            </a:schemeClr>
          </a:solidFill>
          <a:ln w="15875">
            <a:solidFill>
              <a:schemeClr val="accent4">
                <a:alpha val="45000"/>
              </a:schemeClr>
            </a:solidFill>
            <a:prstDash val="solid"/>
          </a:ln>
        </p:spPr>
      </p:sp>
      <p:sp>
        <p:nvSpPr>
          <p:cNvPr id="4" name="Cover Hexagon"/>
          <p:cNvSpPr/>
          <p:nvPr/>
        </p:nvSpPr>
        <p:spPr>
          <a:xfrm rot="5400000">
            <a:off x="8841585" y="4605807"/>
            <a:ext cx="3695502" cy="3200400"/>
          </a:xfrm>
          <a:prstGeom prst="hexagon">
            <a:avLst/>
          </a:prstGeom>
          <a:ln w="15875">
            <a:solidFill>
              <a:schemeClr val="accent4">
                <a:alpha val="50000"/>
              </a:schemeClr>
            </a:solidFill>
            <a:prstDash val="solid"/>
          </a:ln>
        </p:spPr>
      </p:sp>
      <p:sp>
        <p:nvSpPr>
          <p:cNvPr id="5" name="Cover Hexagon"/>
          <p:cNvSpPr/>
          <p:nvPr/>
        </p:nvSpPr>
        <p:spPr>
          <a:xfrm rot="5400000">
            <a:off x="6613359" y="3177540"/>
            <a:ext cx="580722" cy="502920"/>
          </a:xfrm>
          <a:prstGeom prst="hexagon">
            <a:avLst/>
          </a:prstGeom>
          <a:solidFill>
            <a:schemeClr val="accent3"/>
          </a:solidFill>
          <a:ln/>
        </p:spPr>
      </p:sp>
      <p:sp>
        <p:nvSpPr>
          <p:cNvPr id="6" name="Cover Hexagon"/>
          <p:cNvSpPr/>
          <p:nvPr/>
        </p:nvSpPr>
        <p:spPr>
          <a:xfrm rot="5400000">
            <a:off x="10849583" y="1728216"/>
            <a:ext cx="337874" cy="292608"/>
          </a:xfrm>
          <a:prstGeom prst="hexagon">
            <a:avLst/>
          </a:prstGeom>
          <a:solidFill>
            <a:schemeClr val="accent3">
              <a:alpha val="70000"/>
            </a:schemeClr>
          </a:solidFill>
          <a:ln/>
        </p:spPr>
      </p:sp>
      <p:sp>
        <p:nvSpPr>
          <p:cNvPr id="7" name="Cover Hexagon"/>
          <p:cNvSpPr/>
          <p:nvPr/>
        </p:nvSpPr>
        <p:spPr>
          <a:xfrm rot="5400000">
            <a:off x="6868728" y="1440180"/>
            <a:ext cx="4276224" cy="3703320"/>
          </a:xfrm>
          <a:prstGeom prst="hexagon">
            <a:avLst/>
          </a:prstGeom>
          <a:solidFill>
            <a:schemeClr val="accent1">
              <a:alpha val="45000"/>
            </a:schemeClr>
          </a:solidFill>
          <a:ln/>
        </p:spPr>
      </p:sp>
      <p:sp>
        <p:nvSpPr>
          <p:cNvPr id="8" name="Cover Hexagon"/>
          <p:cNvSpPr/>
          <p:nvPr/>
        </p:nvSpPr>
        <p:spPr>
          <a:xfrm rot="5400000">
            <a:off x="6755697" y="4800600"/>
            <a:ext cx="844686" cy="731520"/>
          </a:xfrm>
          <a:prstGeom prst="hexagon">
            <a:avLst/>
          </a:prstGeom>
          <a:ln w="19050">
            <a:solidFill>
              <a:schemeClr val="accent3">
                <a:alpha val="65000"/>
              </a:schemeClr>
            </a:solidFill>
            <a:prstDash val="solid"/>
          </a:ln>
        </p:spPr>
      </p:sp>
      <p:sp>
        <p:nvSpPr>
          <p:cNvPr id="9" name="Cover Hexagon"/>
          <p:cNvSpPr/>
          <p:nvPr/>
        </p:nvSpPr>
        <p:spPr>
          <a:xfrm rot="5400000">
            <a:off x="7159089" y="1691640"/>
            <a:ext cx="3695502" cy="3200400"/>
          </a:xfrm>
          <a:prstGeom prst="hexagon">
            <a:avLst/>
          </a:prstGeom>
          <a:solidFill>
            <a:schemeClr val="bg1"/>
          </a:solidFill>
          <a:ln w="38100">
            <a:solidFill>
              <a:schemeClr val="accent3"/>
            </a:solidFill>
            <a:prstDash val="solid"/>
          </a:ln>
        </p:spPr>
      </p:sp>
      <p:pic>
        <p:nvPicPr>
          <p:cNvPr id="10" name="Genesis Logo" descr="Genesis logo"/>
          <p:cNvPicPr>
            <a:picLocks noChangeAspect="1"/>
          </p:cNvPicPr>
          <p:nvPr/>
        </p:nvPicPr>
        <p:blipFill>
          <a:blip r:embed="rId3"/>
          <a:stretch>
            <a:fillRect/>
          </a:stretch>
        </p:blipFill>
        <p:spPr>
          <a:xfrm>
            <a:off x="8110766" y="2125980"/>
            <a:ext cx="1792148" cy="2331720"/>
          </a:xfrm>
          <a:prstGeom prst="rect">
            <a:avLst/>
          </a:prstGeom>
        </p:spPr>
      </p:pic>
      <p:sp>
        <p:nvSpPr>
          <p:cNvPr id="11" name="Kicker"/>
          <p:cNvSpPr txBox="1"/>
          <p:nvPr/>
        </p:nvSpPr>
        <p:spPr>
          <a:xfrm>
            <a:off x="548640" y="502920"/>
            <a:ext cx="5303520" cy="320040"/>
          </a:xfrm>
          <a:prstGeom prst="rect">
            <a:avLst/>
          </a:prstGeom>
          <a:noFill/>
          <a:ln/>
        </p:spPr>
        <p:txBody>
          <a:bodyPr wrap="square" lIns="0" tIns="0" rIns="0" bIns="0" rtlCol="0" anchor="ctr"/>
          <a:lstStyle/>
          <a:p>
            <a:pPr marL="0" indent="0">
              <a:buNone/>
            </a:pPr>
            <a:r>
              <a:rPr lang="en-US" sz="1200" b="1" kern="0" spc="400" dirty="0">
                <a:solidFill>
                  <a:schemeClr val="accent3"/>
                </a:solidFill>
              </a:rPr>
              <a:t>PRE-IDEATHON TEMPLATE</a:t>
            </a:r>
            <a:endParaRPr lang="en-US" sz="1200" dirty="0"/>
          </a:p>
        </p:txBody>
      </p:sp>
      <p:sp>
        <p:nvSpPr>
          <p:cNvPr id="12" name="Event Title"/>
          <p:cNvSpPr txBox="1"/>
          <p:nvPr/>
        </p:nvSpPr>
        <p:spPr>
          <a:xfrm>
            <a:off x="548640" y="868680"/>
            <a:ext cx="5669280" cy="1600200"/>
          </a:xfrm>
          <a:prstGeom prst="rect">
            <a:avLst/>
          </a:prstGeom>
          <a:noFill/>
          <a:ln/>
        </p:spPr>
        <p:txBody>
          <a:bodyPr wrap="square" lIns="0" tIns="0" rIns="0" bIns="0" rtlCol="0" anchor="t"/>
          <a:lstStyle/>
          <a:p>
            <a:pPr marL="0" indent="0">
              <a:lnSpc>
                <a:spcPct val="90000"/>
              </a:lnSpc>
              <a:buNone/>
            </a:pPr>
            <a:r>
              <a:rPr lang="en-US" sz="5400" b="1" kern="0" spc="200" dirty="0">
                <a:solidFill>
                  <a:schemeClr val="bg1"/>
                </a:solidFill>
                <a:latin typeface="Cambria" pitchFamily="34" charset="0"/>
                <a:ea typeface="Cambria" pitchFamily="34" charset="-122"/>
                <a:cs typeface="Cambria" pitchFamily="34" charset="-120"/>
              </a:rPr>
              <a:t>GENESIS</a:t>
            </a:r>
            <a:endParaRPr lang="en-US" sz="5400" dirty="0"/>
          </a:p>
          <a:p>
            <a:pPr marL="0" indent="0">
              <a:lnSpc>
                <a:spcPct val="90000"/>
              </a:lnSpc>
              <a:buNone/>
            </a:pPr>
            <a:r>
              <a:rPr lang="en-US" sz="5400" b="1" kern="0" spc="200" dirty="0">
                <a:solidFill>
                  <a:schemeClr val="accent3"/>
                </a:solidFill>
                <a:latin typeface="Cambria" pitchFamily="34" charset="0"/>
                <a:ea typeface="Cambria" pitchFamily="34" charset="-122"/>
                <a:cs typeface="Cambria" pitchFamily="34" charset="-120"/>
              </a:rPr>
              <a:t>IDEATHON</a:t>
            </a:r>
            <a:endParaRPr lang="en-US" sz="5400" dirty="0"/>
          </a:p>
        </p:txBody>
      </p:sp>
      <p:sp>
        <p:nvSpPr>
          <p:cNvPr id="13" name="Section Chip"/>
          <p:cNvSpPr/>
          <p:nvPr/>
        </p:nvSpPr>
        <p:spPr>
          <a:xfrm>
            <a:off x="548640" y="2606040"/>
            <a:ext cx="2103120" cy="384048"/>
          </a:xfrm>
          <a:prstGeom prst="roundRect">
            <a:avLst>
              <a:gd name="adj" fmla="val 50000"/>
            </a:avLst>
          </a:prstGeom>
          <a:ln w="15875">
            <a:solidFill>
              <a:schemeClr val="accent3"/>
            </a:solidFill>
          </a:ln>
        </p:spPr>
        <p:txBody>
          <a:bodyPr wrap="square" lIns="0" tIns="0" rIns="0" bIns="0" rtlCol="0" anchor="ctr"/>
          <a:lstStyle/>
          <a:p>
            <a:pPr marL="0" indent="0" algn="ctr">
              <a:buNone/>
            </a:pPr>
            <a:r>
              <a:rPr lang="en-US" sz="1300" b="1" kern="0" spc="300" dirty="0">
                <a:solidFill>
                  <a:schemeClr val="bg1"/>
                </a:solidFill>
              </a:rPr>
              <a:t>TEAM &amp; DOMAIN</a:t>
            </a:r>
            <a:endParaRPr lang="en-US" sz="1300" dirty="0"/>
          </a:p>
        </p:txBody>
      </p:sp>
      <p:sp>
        <p:nvSpPr>
          <p:cNvPr id="14" name="Cover Lead"/>
          <p:cNvSpPr txBox="1"/>
          <p:nvPr/>
        </p:nvSpPr>
        <p:spPr>
          <a:xfrm>
            <a:off x="548640" y="3108960"/>
            <a:ext cx="5669280" cy="365760"/>
          </a:xfrm>
          <a:prstGeom prst="rect">
            <a:avLst/>
          </a:prstGeom>
          <a:noFill/>
          <a:ln/>
        </p:spPr>
        <p:txBody>
          <a:bodyPr wrap="square" lIns="0" tIns="0" rIns="0" bIns="0" rtlCol="0" anchor="ctr"/>
          <a:lstStyle/>
          <a:p>
            <a:pPr marL="0" indent="0">
              <a:buNone/>
            </a:pPr>
            <a:r>
              <a:rPr lang="en-US" sz="1600" i="1" dirty="0">
                <a:solidFill>
                  <a:schemeClr val="accent6"/>
                </a:solidFill>
              </a:rPr>
              <a:t>Introduce your team and the domain you have chosen</a:t>
            </a:r>
            <a:endParaRPr lang="en-US" sz="1600" dirty="0"/>
          </a:p>
        </p:txBody>
      </p:sp>
      <p:sp>
        <p:nvSpPr>
          <p:cNvPr id="15" name="Cover Fields"/>
          <p:cNvSpPr txBox="1"/>
          <p:nvPr/>
        </p:nvSpPr>
        <p:spPr>
          <a:xfrm>
            <a:off x="548640" y="3703320"/>
            <a:ext cx="6035040" cy="2560320"/>
          </a:xfrm>
          <a:prstGeom prst="rect">
            <a:avLst/>
          </a:prstGeom>
          <a:noFill/>
          <a:ln/>
        </p:spPr>
        <p:txBody>
          <a:bodyPr wrap="square" lIns="0" tIns="0" rIns="0" bIns="0" rtlCol="0" anchor="t"/>
          <a:lstStyle/>
          <a:p>
            <a:pPr marL="279400" indent="-279400">
              <a:spcAft>
                <a:spcPts val="1400"/>
              </a:spcAft>
              <a:buClr>
                <a:schemeClr val="accent3"/>
              </a:buClr>
              <a:buSzPct val="100000"/>
              <a:buChar char="•"/>
            </a:pPr>
            <a:r>
              <a:rPr lang="en-US" sz="1800" dirty="0">
                <a:solidFill>
                  <a:schemeClr val="bg1"/>
                </a:solidFill>
              </a:rPr>
              <a:t>Team Name –  </a:t>
            </a:r>
            <a:r>
              <a:rPr lang="en-US" dirty="0">
                <a:solidFill>
                  <a:schemeClr val="bg1"/>
                </a:solidFill>
              </a:rPr>
              <a:t>TECH FORGE 6</a:t>
            </a:r>
            <a:endParaRPr lang="en-US" sz="1800" dirty="0"/>
          </a:p>
          <a:p>
            <a:pPr marL="279400" indent="-279400">
              <a:spcAft>
                <a:spcPts val="1400"/>
              </a:spcAft>
              <a:buClr>
                <a:schemeClr val="accent3"/>
              </a:buClr>
              <a:buSzPct val="100000"/>
              <a:buChar char="•"/>
            </a:pPr>
            <a:r>
              <a:rPr lang="en-US" sz="1800" dirty="0">
                <a:solidFill>
                  <a:schemeClr val="bg1"/>
                </a:solidFill>
              </a:rPr>
              <a:t>Team Members – Mohul M, Sri </a:t>
            </a:r>
            <a:r>
              <a:rPr lang="en-US" dirty="0">
                <a:solidFill>
                  <a:schemeClr val="bg1"/>
                </a:solidFill>
              </a:rPr>
              <a:t>Varshan M, Gowtham Krishna, Siva </a:t>
            </a:r>
            <a:r>
              <a:rPr lang="en-US" sz="1800" dirty="0" err="1">
                <a:solidFill>
                  <a:schemeClr val="bg1"/>
                </a:solidFill>
              </a:rPr>
              <a:t>Prasantham</a:t>
            </a:r>
            <a:r>
              <a:rPr lang="en-US" sz="1800" dirty="0">
                <a:solidFill>
                  <a:schemeClr val="bg1"/>
                </a:solidFill>
              </a:rPr>
              <a:t> K</a:t>
            </a:r>
            <a:endParaRPr lang="en-US" sz="1800" dirty="0"/>
          </a:p>
          <a:p>
            <a:pPr marL="279400" indent="-279400">
              <a:spcAft>
                <a:spcPts val="1400"/>
              </a:spcAft>
              <a:buClr>
                <a:schemeClr val="accent3"/>
              </a:buClr>
              <a:buSzPct val="100000"/>
              <a:buChar char="•"/>
            </a:pPr>
            <a:r>
              <a:rPr lang="en-US" sz="1800" dirty="0">
                <a:solidFill>
                  <a:schemeClr val="bg1"/>
                </a:solidFill>
              </a:rPr>
              <a:t>Selected Domain – Food Security, Agriculture &amp; Rural Transformation</a:t>
            </a:r>
            <a:endParaRPr lang="en-US" sz="1800" dirty="0"/>
          </a:p>
          <a:p>
            <a:pPr marL="279400" indent="-279400">
              <a:spcAft>
                <a:spcPts val="1400"/>
              </a:spcAft>
              <a:buClr>
                <a:schemeClr val="accent3"/>
              </a:buClr>
              <a:buSzPct val="100000"/>
              <a:buChar char="•"/>
            </a:pPr>
            <a:r>
              <a:rPr lang="en-US" sz="1800" dirty="0">
                <a:solidFill>
                  <a:schemeClr val="bg1"/>
                </a:solidFill>
              </a:rPr>
              <a:t>Problem Statement –</a:t>
            </a:r>
            <a:endParaRPr lang="en-US" sz="18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7"/>
          <p:cNvSpPr>
            <a:spLocks noGrp="1"/>
          </p:cNvSpPr>
          <p:nvPr>
            <p:ph type="title" idx="108" hasCustomPrompt="1"/>
          </p:nvPr>
        </p:nvSpPr>
        <p:spPr>
          <a:xfrm>
            <a:off x="3246120" y="320040"/>
            <a:ext cx="7498080" cy="822960"/>
          </a:xfrm>
          <a:prstGeom prst="rect">
            <a:avLst/>
          </a:prstGeom>
          <a:noFill/>
          <a:ln/>
        </p:spPr>
        <p:txBody>
          <a:bodyPr wrap="square" lIns="0" tIns="0" rIns="0" bIns="0" rtlCol="0" anchor="ctr"/>
          <a:lstStyle/>
          <a:p>
            <a:pPr marL="0" indent="0" algn="ctr">
              <a:buNone/>
            </a:pPr>
            <a:r>
              <a:rPr lang="en-US" sz="2400" b="1" kern="0" spc="100" dirty="0">
                <a:solidFill>
                  <a:schemeClr val="tx2"/>
                </a:solidFill>
                <a:latin typeface="Cambria" pitchFamily="34" charset="0"/>
                <a:ea typeface="Cambria" pitchFamily="34" charset="-122"/>
                <a:cs typeface="Cambria" pitchFamily="34" charset="-120"/>
              </a:rPr>
              <a:t>DOMAIN PROBLEM IN OUR WORDS</a:t>
            </a:r>
            <a:endParaRPr lang="en-US" sz="2400" dirty="0"/>
          </a:p>
        </p:txBody>
      </p:sp>
      <p:sp>
        <p:nvSpPr>
          <p:cNvPr id="3" name="Team Badge"/>
          <p:cNvSpPr/>
          <p:nvPr/>
        </p:nvSpPr>
        <p:spPr>
          <a:xfrm>
            <a:off x="457200" y="320040"/>
            <a:ext cx="2606040" cy="822960"/>
          </a:xfrm>
          <a:prstGeom prst="roundRect">
            <a:avLst>
              <a:gd name="adj" fmla="val 13333"/>
            </a:avLst>
          </a:prstGeom>
          <a:solidFill>
            <a:schemeClr val="bg1"/>
          </a:solidFill>
          <a:ln w="9525">
            <a:solidFill>
              <a:schemeClr val="accent6"/>
            </a:solidFill>
            <a:prstDash val="solid"/>
          </a:ln>
        </p:spPr>
      </p:sp>
      <p:sp>
        <p:nvSpPr>
          <p:cNvPr id="4" name="Team Icon Hex"/>
          <p:cNvSpPr/>
          <p:nvPr/>
        </p:nvSpPr>
        <p:spPr>
          <a:xfrm>
            <a:off x="603504" y="457200"/>
            <a:ext cx="630936" cy="548640"/>
          </a:xfrm>
          <a:prstGeom prst="hexagon">
            <a:avLst/>
          </a:prstGeom>
          <a:solidFill>
            <a:schemeClr val="bg2"/>
          </a:solidFill>
          <a:ln w="9525">
            <a:solidFill>
              <a:schemeClr val="accent6"/>
            </a:solidFill>
            <a:prstDash val="solid"/>
          </a:ln>
        </p:spPr>
      </p:sp>
      <p:pic>
        <p:nvPicPr>
          <p:cNvPr id="5" name="Team Icon" descr="Team icon"/>
          <p:cNvPicPr>
            <a:picLocks noChangeAspect="1"/>
          </p:cNvPicPr>
          <p:nvPr/>
        </p:nvPicPr>
        <p:blipFill>
          <a:blip r:embed="rId3"/>
          <a:stretch>
            <a:fillRect/>
          </a:stretch>
        </p:blipFill>
        <p:spPr>
          <a:xfrm>
            <a:off x="736092" y="548640"/>
            <a:ext cx="365760" cy="365760"/>
          </a:xfrm>
          <a:prstGeom prst="rect">
            <a:avLst/>
          </a:prstGeom>
        </p:spPr>
      </p:pic>
      <p:sp>
        <p:nvSpPr>
          <p:cNvPr id="6" name="Team Name"/>
          <p:cNvSpPr txBox="1"/>
          <p:nvPr/>
        </p:nvSpPr>
        <p:spPr>
          <a:xfrm>
            <a:off x="1371600" y="384048"/>
            <a:ext cx="1627632" cy="694944"/>
          </a:xfrm>
          <a:prstGeom prst="rect">
            <a:avLst/>
          </a:prstGeom>
          <a:noFill/>
          <a:ln/>
        </p:spPr>
        <p:txBody>
          <a:bodyPr wrap="square" lIns="0" tIns="0" rIns="0" bIns="0" rtlCol="0" anchor="ctr">
            <a:normAutofit/>
          </a:bodyPr>
          <a:lstStyle/>
          <a:p>
            <a:pPr marL="0" indent="0">
              <a:buNone/>
            </a:pPr>
            <a:r>
              <a:rPr lang="en-US" sz="900" b="1" kern="0" spc="300" dirty="0">
                <a:solidFill>
                  <a:schemeClr val="accent5"/>
                </a:solidFill>
              </a:rPr>
              <a:t>TEAM</a:t>
            </a:r>
          </a:p>
          <a:p>
            <a:r>
              <a:rPr lang="en-US" sz="1500" b="1" dirty="0">
                <a:solidFill>
                  <a:schemeClr val="accent1"/>
                </a:solidFill>
              </a:rPr>
              <a:t>TECH FORGE 6</a:t>
            </a:r>
            <a:endParaRPr lang="en-US" sz="1500" dirty="0"/>
          </a:p>
        </p:txBody>
      </p:sp>
      <p:sp>
        <p:nvSpPr>
          <p:cNvPr id="7" name="Lead Icon Hex"/>
          <p:cNvSpPr/>
          <p:nvPr/>
        </p:nvSpPr>
        <p:spPr>
          <a:xfrm>
            <a:off x="548640" y="1463040"/>
            <a:ext cx="457200" cy="395935"/>
          </a:xfrm>
          <a:prstGeom prst="hexagon">
            <a:avLst/>
          </a:prstGeom>
          <a:solidFill>
            <a:schemeClr val="accent3"/>
          </a:solidFill>
          <a:ln/>
        </p:spPr>
      </p:sp>
      <p:pic>
        <p:nvPicPr>
          <p:cNvPr id="8" name="Lead Icon" descr="Lightbulb icon"/>
          <p:cNvPicPr>
            <a:picLocks noChangeAspect="1"/>
          </p:cNvPicPr>
          <p:nvPr/>
        </p:nvPicPr>
        <p:blipFill>
          <a:blip r:embed="rId4"/>
          <a:stretch>
            <a:fillRect/>
          </a:stretch>
        </p:blipFill>
        <p:spPr>
          <a:xfrm>
            <a:off x="640080" y="1523390"/>
            <a:ext cx="274320" cy="274320"/>
          </a:xfrm>
          <a:prstGeom prst="rect">
            <a:avLst/>
          </a:prstGeom>
        </p:spPr>
      </p:pic>
      <p:sp>
        <p:nvSpPr>
          <p:cNvPr id="9" name="Lead Text"/>
          <p:cNvSpPr txBox="1"/>
          <p:nvPr/>
        </p:nvSpPr>
        <p:spPr>
          <a:xfrm>
            <a:off x="1170432" y="1417320"/>
            <a:ext cx="9601200" cy="502920"/>
          </a:xfrm>
          <a:prstGeom prst="rect">
            <a:avLst/>
          </a:prstGeom>
          <a:noFill/>
          <a:ln/>
        </p:spPr>
        <p:txBody>
          <a:bodyPr wrap="square" lIns="0" tIns="0" rIns="0" bIns="0" rtlCol="0" anchor="ctr"/>
          <a:lstStyle/>
          <a:p>
            <a:pPr marL="0" indent="0">
              <a:buNone/>
            </a:pPr>
            <a:r>
              <a:rPr lang="en-US" sz="1800" b="1" dirty="0">
                <a:solidFill>
                  <a:schemeClr val="accent2"/>
                </a:solidFill>
              </a:rPr>
              <a:t>Explain the problem in your domain simply, in your own words</a:t>
            </a:r>
            <a:endParaRPr lang="en-US" sz="1800" dirty="0"/>
          </a:p>
        </p:txBody>
      </p:sp>
      <p:sp>
        <p:nvSpPr>
          <p:cNvPr id="10" name="Prompts"/>
          <p:cNvSpPr txBox="1"/>
          <p:nvPr/>
        </p:nvSpPr>
        <p:spPr>
          <a:xfrm>
            <a:off x="868680" y="2148839"/>
            <a:ext cx="10424160" cy="4084009"/>
          </a:xfrm>
          <a:prstGeom prst="rect">
            <a:avLst/>
          </a:prstGeom>
          <a:noFill/>
          <a:ln/>
        </p:spPr>
        <p:txBody>
          <a:bodyPr wrap="square" lIns="0" tIns="0" rIns="0" bIns="0" rtlCol="0" anchor="t"/>
          <a:lstStyle/>
          <a:p>
            <a:pPr>
              <a:spcAft>
                <a:spcPts val="1000"/>
              </a:spcAft>
              <a:buClr>
                <a:schemeClr val="accent1"/>
              </a:buClr>
              <a:buSzPct val="100000"/>
            </a:pPr>
            <a:r>
              <a:rPr lang="en-US" sz="1500" dirty="0">
                <a:solidFill>
                  <a:schemeClr val="tx1"/>
                </a:solidFill>
              </a:rPr>
              <a:t>     </a:t>
            </a:r>
            <a:r>
              <a:rPr lang="en-US" sz="1500" b="1" dirty="0">
                <a:solidFill>
                  <a:schemeClr val="tx1"/>
                </a:solidFill>
              </a:rPr>
              <a:t>What exactly needs to be solved?</a:t>
            </a:r>
          </a:p>
          <a:p>
            <a:pPr marL="279400" indent="-279400">
              <a:spcAft>
                <a:spcPts val="1000"/>
              </a:spcAft>
              <a:buClr>
                <a:schemeClr val="accent1"/>
              </a:buClr>
              <a:buSzPct val="100000"/>
              <a:buFontTx/>
              <a:buChar char="•"/>
            </a:pPr>
            <a:r>
              <a:rPr lang="en-IN" sz="1500" dirty="0"/>
              <a:t>Smallholder farmers make decisions on what and when to sow in isolation. When farmers in a taluk sow the same crop at the same time, they harvest at the same time and flood the market with produce, leading to a price crash. The farmers have no visibility into the amount of produce that will come into the market around them and when it will arrive before they sow their own crop.</a:t>
            </a:r>
            <a:endParaRPr lang="en-US" sz="1500" dirty="0"/>
          </a:p>
          <a:p>
            <a:pPr>
              <a:spcAft>
                <a:spcPts val="1000"/>
              </a:spcAft>
              <a:buClr>
                <a:schemeClr val="accent1"/>
              </a:buClr>
              <a:buSzPct val="100000"/>
            </a:pPr>
            <a:r>
              <a:rPr lang="en-US" sz="1500" dirty="0">
                <a:solidFill>
                  <a:schemeClr val="tx1"/>
                </a:solidFill>
              </a:rPr>
              <a:t>  </a:t>
            </a:r>
            <a:r>
              <a:rPr lang="en-US" sz="1500" b="1" dirty="0">
                <a:solidFill>
                  <a:schemeClr val="tx1"/>
                </a:solidFill>
              </a:rPr>
              <a:t> Why is it important right now?</a:t>
            </a:r>
          </a:p>
          <a:p>
            <a:pPr>
              <a:spcAft>
                <a:spcPts val="1000"/>
              </a:spcAft>
              <a:buClr>
                <a:schemeClr val="accent1"/>
              </a:buClr>
              <a:buSzPct val="100000"/>
            </a:pPr>
            <a:r>
              <a:rPr lang="en-IN" sz="1500" b="1" dirty="0"/>
              <a:t> 1.Rising losses: </a:t>
            </a:r>
            <a:r>
              <a:rPr lang="en-IN" sz="1500" dirty="0"/>
              <a:t>Repeated glut-driven price crashes (tomato, onion) push farmers into distress sales and debt; rising input costs leave                 no margin for error.</a:t>
            </a:r>
            <a:br>
              <a:rPr lang="en-IN" sz="1500" dirty="0"/>
            </a:br>
            <a:r>
              <a:rPr lang="en-IN" sz="1500" b="1" dirty="0"/>
              <a:t>2.</a:t>
            </a:r>
            <a:r>
              <a:rPr lang="en-IN" sz="1500" dirty="0"/>
              <a:t> </a:t>
            </a:r>
            <a:r>
              <a:rPr lang="en-IN" sz="1500" b="1" dirty="0"/>
              <a:t>The data is finally available: </a:t>
            </a:r>
            <a:r>
              <a:rPr lang="en-IN" sz="1500" dirty="0"/>
              <a:t>Free satellite imagery, digital crop surveys and voice-based tools on basic phones now make taluk-level    forecasting possible for the first time.</a:t>
            </a:r>
            <a:br>
              <a:rPr lang="en-IN" sz="1500" dirty="0"/>
            </a:br>
            <a:r>
              <a:rPr lang="en-IN" sz="1500" b="1" dirty="0"/>
              <a:t>3. Policy momentum: </a:t>
            </a:r>
            <a:r>
              <a:rPr lang="en-IN" sz="1500" dirty="0"/>
              <a:t>Government digital agriculture initiatives (</a:t>
            </a:r>
            <a:r>
              <a:rPr lang="en-IN" sz="1500" dirty="0" err="1"/>
              <a:t>Agristack</a:t>
            </a:r>
            <a:r>
              <a:rPr lang="en-IN" sz="1500" dirty="0"/>
              <a:t>, Digital Crop Survey) are building the data foundation this solution can use.</a:t>
            </a:r>
          </a:p>
          <a:p>
            <a:pPr>
              <a:spcAft>
                <a:spcPts val="1000"/>
              </a:spcAft>
              <a:buClr>
                <a:schemeClr val="accent1"/>
              </a:buClr>
              <a:buSzPct val="100000"/>
            </a:pPr>
            <a:endParaRPr lang="en-US" sz="1500" dirty="0"/>
          </a:p>
        </p:txBody>
      </p:sp>
      <p:sp>
        <p:nvSpPr>
          <p:cNvPr id="25" name="Slide Number Placeholder 0"/>
          <p:cNvSpPr>
            <a:spLocks noGrp="1"/>
          </p:cNvSpPr>
          <p:nvPr>
            <p:ph type="sldNum" sz="quarter" idx="4294967295"/>
          </p:nvPr>
        </p:nvSpPr>
        <p:spPr>
          <a:xfrm>
            <a:off x="11259007" y="6409944"/>
            <a:ext cx="457200" cy="395935"/>
          </a:xfrm>
          <a:prstGeom prst="rect">
            <a:avLst/>
          </a:prstGeom>
          <a:extLst>
            <a:ext uri="{C572A759-6A51-4108-AA02-DFA0A04FC94B}">
              <ma14:wrappingTextBoxFlag xmlns:ma14="http://schemas.microsoft.com/office/mac/drawingml/2011/main" xmlns="" val="0"/>
            </a:ext>
          </a:extLst>
        </p:spPr>
        <p:txBody>
          <a:bodyPr lIns="0" tIns="0" rIns="0" bIns="0" anchor="ctr"/>
          <a:lstStyle>
            <a:lvl1pPr>
              <a:defRPr sz="1100">
                <a:solidFill>
                  <a:schemeClr val="tx2"/>
                </a:solidFill>
                <a:latin typeface="Calibri"/>
                <a:ea typeface="Calibri"/>
                <a:cs typeface="Calibri"/>
              </a:defRPr>
            </a:lvl1pPr>
          </a:lstStyle>
          <a:p>
            <a:pPr algn="ctr"/>
            <a:fld id="{F7021451-1387-4CA6-816F-3879F97B5CBC}" type="slidenum">
              <a:rPr lang="en-US" b="1"/>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7"/>
          <p:cNvSpPr>
            <a:spLocks noGrp="1"/>
          </p:cNvSpPr>
          <p:nvPr>
            <p:ph type="title" idx="108" hasCustomPrompt="1"/>
          </p:nvPr>
        </p:nvSpPr>
        <p:spPr>
          <a:xfrm>
            <a:off x="3246120" y="320040"/>
            <a:ext cx="7498080" cy="822960"/>
          </a:xfrm>
          <a:prstGeom prst="rect">
            <a:avLst/>
          </a:prstGeom>
          <a:noFill/>
          <a:ln/>
        </p:spPr>
        <p:txBody>
          <a:bodyPr wrap="square" lIns="0" tIns="0" rIns="0" bIns="0" rtlCol="0" anchor="ctr"/>
          <a:lstStyle/>
          <a:p>
            <a:pPr marL="0" indent="0" algn="ctr">
              <a:buNone/>
            </a:pPr>
            <a:r>
              <a:rPr lang="en-US" sz="2400" b="1" kern="0" spc="100" dirty="0">
                <a:solidFill>
                  <a:schemeClr val="tx2"/>
                </a:solidFill>
                <a:latin typeface="Cambria" pitchFamily="34" charset="0"/>
                <a:ea typeface="Cambria" pitchFamily="34" charset="-122"/>
                <a:cs typeface="Cambria" pitchFamily="34" charset="-120"/>
              </a:rPr>
              <a:t>WHO IS AFFECTED?</a:t>
            </a:r>
            <a:endParaRPr lang="en-US" sz="2400" dirty="0"/>
          </a:p>
        </p:txBody>
      </p:sp>
      <p:sp>
        <p:nvSpPr>
          <p:cNvPr id="3" name="Team Badge"/>
          <p:cNvSpPr/>
          <p:nvPr/>
        </p:nvSpPr>
        <p:spPr>
          <a:xfrm>
            <a:off x="457200" y="320040"/>
            <a:ext cx="2606040" cy="822960"/>
          </a:xfrm>
          <a:prstGeom prst="roundRect">
            <a:avLst>
              <a:gd name="adj" fmla="val 13333"/>
            </a:avLst>
          </a:prstGeom>
          <a:solidFill>
            <a:schemeClr val="bg1"/>
          </a:solidFill>
          <a:ln w="9525">
            <a:solidFill>
              <a:schemeClr val="accent6"/>
            </a:solidFill>
            <a:prstDash val="solid"/>
          </a:ln>
        </p:spPr>
      </p:sp>
      <p:sp>
        <p:nvSpPr>
          <p:cNvPr id="4" name="Team Icon Hex"/>
          <p:cNvSpPr/>
          <p:nvPr/>
        </p:nvSpPr>
        <p:spPr>
          <a:xfrm>
            <a:off x="603504" y="457200"/>
            <a:ext cx="630936" cy="548640"/>
          </a:xfrm>
          <a:prstGeom prst="hexagon">
            <a:avLst/>
          </a:prstGeom>
          <a:solidFill>
            <a:schemeClr val="bg2"/>
          </a:solidFill>
          <a:ln w="9525">
            <a:solidFill>
              <a:schemeClr val="accent6"/>
            </a:solidFill>
            <a:prstDash val="solid"/>
          </a:ln>
        </p:spPr>
      </p:sp>
      <p:pic>
        <p:nvPicPr>
          <p:cNvPr id="5" name="Team Icon" descr="Team icon"/>
          <p:cNvPicPr>
            <a:picLocks noChangeAspect="1"/>
          </p:cNvPicPr>
          <p:nvPr/>
        </p:nvPicPr>
        <p:blipFill>
          <a:blip r:embed="rId3"/>
          <a:stretch>
            <a:fillRect/>
          </a:stretch>
        </p:blipFill>
        <p:spPr>
          <a:xfrm>
            <a:off x="736092" y="548640"/>
            <a:ext cx="365760" cy="365760"/>
          </a:xfrm>
          <a:prstGeom prst="rect">
            <a:avLst/>
          </a:prstGeom>
        </p:spPr>
      </p:pic>
      <p:sp>
        <p:nvSpPr>
          <p:cNvPr id="6" name="Team Name"/>
          <p:cNvSpPr txBox="1"/>
          <p:nvPr/>
        </p:nvSpPr>
        <p:spPr>
          <a:xfrm>
            <a:off x="1371600" y="384048"/>
            <a:ext cx="1627632" cy="694944"/>
          </a:xfrm>
          <a:prstGeom prst="rect">
            <a:avLst/>
          </a:prstGeom>
          <a:noFill/>
          <a:ln/>
        </p:spPr>
        <p:txBody>
          <a:bodyPr wrap="square" lIns="0" tIns="0" rIns="0" bIns="0" rtlCol="0" anchor="ctr">
            <a:normAutofit/>
          </a:bodyPr>
          <a:lstStyle/>
          <a:p>
            <a:pPr marL="0" indent="0">
              <a:buNone/>
            </a:pPr>
            <a:r>
              <a:rPr lang="en-US" sz="900" b="1" kern="0" spc="300" dirty="0">
                <a:solidFill>
                  <a:schemeClr val="accent5"/>
                </a:solidFill>
              </a:rPr>
              <a:t>TEAM</a:t>
            </a:r>
            <a:endParaRPr lang="en-US" sz="900" dirty="0"/>
          </a:p>
          <a:p>
            <a:pPr marL="0" indent="0">
              <a:buNone/>
            </a:pPr>
            <a:r>
              <a:rPr lang="en-US" sz="1500" b="1" dirty="0">
                <a:solidFill>
                  <a:schemeClr val="accent1"/>
                </a:solidFill>
              </a:rPr>
              <a:t>TECH FORGE 6</a:t>
            </a:r>
            <a:endParaRPr lang="en-US" sz="900" dirty="0"/>
          </a:p>
        </p:txBody>
      </p:sp>
      <p:sp>
        <p:nvSpPr>
          <p:cNvPr id="7" name="Lead Icon Hex"/>
          <p:cNvSpPr/>
          <p:nvPr/>
        </p:nvSpPr>
        <p:spPr>
          <a:xfrm>
            <a:off x="548640" y="1463040"/>
            <a:ext cx="457200" cy="395935"/>
          </a:xfrm>
          <a:prstGeom prst="hexagon">
            <a:avLst/>
          </a:prstGeom>
          <a:solidFill>
            <a:schemeClr val="accent3"/>
          </a:solidFill>
          <a:ln/>
        </p:spPr>
      </p:sp>
      <p:pic>
        <p:nvPicPr>
          <p:cNvPr id="8" name="Lead Icon" descr="Lightbulb icon"/>
          <p:cNvPicPr>
            <a:picLocks noChangeAspect="1"/>
          </p:cNvPicPr>
          <p:nvPr/>
        </p:nvPicPr>
        <p:blipFill>
          <a:blip r:embed="rId4"/>
          <a:stretch>
            <a:fillRect/>
          </a:stretch>
        </p:blipFill>
        <p:spPr>
          <a:xfrm>
            <a:off x="640080" y="1523390"/>
            <a:ext cx="274320" cy="274320"/>
          </a:xfrm>
          <a:prstGeom prst="rect">
            <a:avLst/>
          </a:prstGeom>
        </p:spPr>
      </p:pic>
      <p:sp>
        <p:nvSpPr>
          <p:cNvPr id="9" name="Lead Text"/>
          <p:cNvSpPr txBox="1"/>
          <p:nvPr/>
        </p:nvSpPr>
        <p:spPr>
          <a:xfrm>
            <a:off x="1170432" y="1417320"/>
            <a:ext cx="9601200" cy="502920"/>
          </a:xfrm>
          <a:prstGeom prst="rect">
            <a:avLst/>
          </a:prstGeom>
          <a:noFill/>
          <a:ln/>
        </p:spPr>
        <p:txBody>
          <a:bodyPr wrap="square" lIns="0" tIns="0" rIns="0" bIns="0" rtlCol="0" anchor="ctr"/>
          <a:lstStyle/>
          <a:p>
            <a:pPr marL="0" indent="0">
              <a:buNone/>
            </a:pPr>
            <a:r>
              <a:rPr lang="en-US" sz="1800" b="1" dirty="0">
                <a:solidFill>
                  <a:schemeClr val="accent2"/>
                </a:solidFill>
              </a:rPr>
              <a:t>Target users, stakeholders, beneficiaries</a:t>
            </a:r>
            <a:endParaRPr lang="en-US" sz="1800" dirty="0"/>
          </a:p>
        </p:txBody>
      </p:sp>
      <p:sp>
        <p:nvSpPr>
          <p:cNvPr id="10" name="Prompts"/>
          <p:cNvSpPr txBox="1"/>
          <p:nvPr/>
        </p:nvSpPr>
        <p:spPr>
          <a:xfrm>
            <a:off x="868680" y="2148840"/>
            <a:ext cx="10424160" cy="3878736"/>
          </a:xfrm>
          <a:prstGeom prst="rect">
            <a:avLst/>
          </a:prstGeom>
          <a:noFill/>
          <a:ln/>
        </p:spPr>
        <p:txBody>
          <a:bodyPr wrap="square" lIns="0" tIns="0" rIns="0" bIns="0" rtlCol="0" anchor="t"/>
          <a:lstStyle/>
          <a:p>
            <a:pPr>
              <a:spcAft>
                <a:spcPts val="1000"/>
              </a:spcAft>
              <a:buClr>
                <a:schemeClr val="accent1"/>
              </a:buClr>
              <a:buSzPct val="100000"/>
            </a:pPr>
            <a:r>
              <a:rPr lang="en-US" sz="1500" b="1" dirty="0"/>
              <a:t>   Primary Users:</a:t>
            </a:r>
          </a:p>
          <a:p>
            <a:pPr marL="279400" indent="-279400">
              <a:spcAft>
                <a:spcPts val="1000"/>
              </a:spcAft>
              <a:buClr>
                <a:schemeClr val="accent1"/>
              </a:buClr>
              <a:buSzPct val="100000"/>
              <a:buChar char="•"/>
            </a:pPr>
            <a:r>
              <a:rPr lang="en-US" sz="1500" dirty="0"/>
              <a:t>Smallholder farmers engaged in producing perishable foodstuffs, such as tomatoes, onions, and bananas.</a:t>
            </a:r>
          </a:p>
          <a:p>
            <a:pPr marL="279400" indent="-279400">
              <a:spcAft>
                <a:spcPts val="1000"/>
              </a:spcAft>
              <a:buClr>
                <a:schemeClr val="accent1"/>
              </a:buClr>
              <a:buSzPct val="100000"/>
              <a:buChar char="•"/>
            </a:pPr>
            <a:r>
              <a:rPr lang="en-US" sz="1500" dirty="0"/>
              <a:t>Farmers making sowing decisions without having access to information on what other farmers in their vicinity are planning to grow.</a:t>
            </a:r>
          </a:p>
          <a:p>
            <a:pPr>
              <a:spcAft>
                <a:spcPts val="1000"/>
              </a:spcAft>
              <a:buClr>
                <a:schemeClr val="accent1"/>
              </a:buClr>
              <a:buSzPct val="100000"/>
            </a:pPr>
            <a:r>
              <a:rPr lang="en-US" sz="1500" dirty="0"/>
              <a:t>    </a:t>
            </a:r>
            <a:r>
              <a:rPr lang="en-US" sz="1500" b="1" dirty="0"/>
              <a:t>Secondary Stakeholders:</a:t>
            </a:r>
          </a:p>
          <a:p>
            <a:pPr marL="279400" indent="-279400">
              <a:spcAft>
                <a:spcPts val="1000"/>
              </a:spcAft>
              <a:buClr>
                <a:schemeClr val="accent1"/>
              </a:buClr>
              <a:buSzPct val="100000"/>
              <a:buChar char="•"/>
            </a:pPr>
            <a:r>
              <a:rPr lang="en-US" sz="1500" dirty="0"/>
              <a:t>Farmer Producer Organizations and agricultural cooperatives.</a:t>
            </a:r>
          </a:p>
          <a:p>
            <a:pPr marL="279400" indent="-279400">
              <a:spcAft>
                <a:spcPts val="1000"/>
              </a:spcAft>
              <a:buClr>
                <a:schemeClr val="accent1"/>
              </a:buClr>
              <a:buSzPct val="100000"/>
              <a:buChar char="•"/>
            </a:pPr>
            <a:r>
              <a:rPr lang="en-US" sz="1500" dirty="0"/>
              <a:t>Agricultural extension officers, mandi traders, and local market authorities.</a:t>
            </a:r>
          </a:p>
          <a:p>
            <a:pPr>
              <a:spcAft>
                <a:spcPts val="1000"/>
              </a:spcAft>
              <a:buClr>
                <a:schemeClr val="accent1"/>
              </a:buClr>
              <a:buSzPct val="100000"/>
            </a:pPr>
            <a:r>
              <a:rPr lang="en-US" sz="1500" b="1" dirty="0"/>
              <a:t>   Beneficiaries:</a:t>
            </a:r>
          </a:p>
          <a:p>
            <a:pPr marL="279400" indent="-279400">
              <a:spcAft>
                <a:spcPts val="1000"/>
              </a:spcAft>
              <a:buClr>
                <a:schemeClr val="accent1"/>
              </a:buClr>
              <a:buSzPct val="100000"/>
              <a:buChar char="•"/>
            </a:pPr>
            <a:r>
              <a:rPr lang="en-US" sz="1500" dirty="0"/>
              <a:t>Farmers: Having access to information on what other farmers in their vicinity are planning to grow, and hence being able to make better sowing decisions.</a:t>
            </a:r>
          </a:p>
          <a:p>
            <a:pPr marL="279400" indent="-279400">
              <a:spcAft>
                <a:spcPts val="1000"/>
              </a:spcAft>
              <a:buClr>
                <a:schemeClr val="accent1"/>
              </a:buClr>
              <a:buSzPct val="100000"/>
              <a:buChar char="•"/>
            </a:pPr>
            <a:r>
              <a:rPr lang="en-US" sz="1500" dirty="0"/>
              <a:t>Buyers: Having access to information on agricultural produce supply-demand dynamics.</a:t>
            </a:r>
          </a:p>
          <a:p>
            <a:pPr marL="279400" indent="-279400">
              <a:spcAft>
                <a:spcPts val="1000"/>
              </a:spcAft>
              <a:buClr>
                <a:schemeClr val="accent1"/>
              </a:buClr>
              <a:buSzPct val="100000"/>
              <a:buChar char="•"/>
            </a:pPr>
            <a:r>
              <a:rPr lang="en-US" sz="1500" dirty="0"/>
              <a:t>Communities: Enhanced planning of agricultural production.</a:t>
            </a:r>
          </a:p>
        </p:txBody>
      </p:sp>
      <p:sp>
        <p:nvSpPr>
          <p:cNvPr id="25" name="Slide Number Placeholder 0"/>
          <p:cNvSpPr>
            <a:spLocks noGrp="1"/>
          </p:cNvSpPr>
          <p:nvPr>
            <p:ph type="sldNum" sz="quarter" idx="4294967295"/>
          </p:nvPr>
        </p:nvSpPr>
        <p:spPr>
          <a:xfrm>
            <a:off x="11259007" y="6409944"/>
            <a:ext cx="457200" cy="395935"/>
          </a:xfrm>
          <a:prstGeom prst="rect">
            <a:avLst/>
          </a:prstGeom>
          <a:extLst>
            <a:ext uri="{C572A759-6A51-4108-AA02-DFA0A04FC94B}">
              <ma14:wrappingTextBoxFlag xmlns="" xmlns:ma14="http://schemas.microsoft.com/office/mac/drawingml/2011/main" val="0"/>
            </a:ext>
          </a:extLst>
        </p:spPr>
        <p:txBody>
          <a:bodyPr lIns="0" tIns="0" rIns="0" bIns="0" anchor="ctr"/>
          <a:lstStyle>
            <a:lvl1pPr>
              <a:defRPr sz="1100">
                <a:solidFill>
                  <a:schemeClr val="tx2"/>
                </a:solidFill>
                <a:latin typeface="Calibri"/>
                <a:ea typeface="Calibri"/>
                <a:cs typeface="Calibri"/>
              </a:defRPr>
            </a:lvl1pPr>
          </a:lstStyle>
          <a:p>
            <a:pPr algn="ctr"/>
            <a:fld id="{F7021451-1387-4CA6-816F-3879F97B5CBC}" type="slidenum">
              <a:rPr lang="en-US" b="1"/>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7"/>
          <p:cNvSpPr>
            <a:spLocks noGrp="1"/>
          </p:cNvSpPr>
          <p:nvPr>
            <p:ph type="title" idx="108" hasCustomPrompt="1"/>
          </p:nvPr>
        </p:nvSpPr>
        <p:spPr>
          <a:xfrm>
            <a:off x="3246120" y="320040"/>
            <a:ext cx="7498080" cy="822960"/>
          </a:xfrm>
          <a:prstGeom prst="rect">
            <a:avLst/>
          </a:prstGeom>
          <a:noFill/>
          <a:ln/>
        </p:spPr>
        <p:txBody>
          <a:bodyPr wrap="square" lIns="0" tIns="0" rIns="0" bIns="0" rtlCol="0" anchor="ctr"/>
          <a:lstStyle/>
          <a:p>
            <a:pPr marL="0" indent="0" algn="ctr">
              <a:buNone/>
            </a:pPr>
            <a:r>
              <a:rPr lang="en-US" sz="2400" b="1" kern="0" spc="100" dirty="0">
                <a:solidFill>
                  <a:schemeClr val="tx2"/>
                </a:solidFill>
                <a:latin typeface="Cambria" pitchFamily="34" charset="0"/>
                <a:ea typeface="Cambria" pitchFamily="34" charset="-122"/>
                <a:cs typeface="Cambria" pitchFamily="34" charset="-120"/>
              </a:rPr>
              <a:t>CURRENT SITUATION &amp; CONTEXT</a:t>
            </a:r>
            <a:endParaRPr lang="en-US" sz="2400" dirty="0"/>
          </a:p>
        </p:txBody>
      </p:sp>
      <p:sp>
        <p:nvSpPr>
          <p:cNvPr id="3" name="Team Badge"/>
          <p:cNvSpPr/>
          <p:nvPr/>
        </p:nvSpPr>
        <p:spPr>
          <a:xfrm>
            <a:off x="457200" y="320040"/>
            <a:ext cx="2606040" cy="822960"/>
          </a:xfrm>
          <a:prstGeom prst="roundRect">
            <a:avLst>
              <a:gd name="adj" fmla="val 13333"/>
            </a:avLst>
          </a:prstGeom>
          <a:solidFill>
            <a:schemeClr val="bg1"/>
          </a:solidFill>
          <a:ln w="9525">
            <a:solidFill>
              <a:schemeClr val="accent6"/>
            </a:solidFill>
            <a:prstDash val="solid"/>
          </a:ln>
        </p:spPr>
      </p:sp>
      <p:sp>
        <p:nvSpPr>
          <p:cNvPr id="4" name="Team Icon Hex"/>
          <p:cNvSpPr/>
          <p:nvPr/>
        </p:nvSpPr>
        <p:spPr>
          <a:xfrm>
            <a:off x="603504" y="457200"/>
            <a:ext cx="630936" cy="548640"/>
          </a:xfrm>
          <a:prstGeom prst="hexagon">
            <a:avLst/>
          </a:prstGeom>
          <a:solidFill>
            <a:schemeClr val="bg2"/>
          </a:solidFill>
          <a:ln w="9525">
            <a:solidFill>
              <a:schemeClr val="accent6"/>
            </a:solidFill>
            <a:prstDash val="solid"/>
          </a:ln>
        </p:spPr>
      </p:sp>
      <p:pic>
        <p:nvPicPr>
          <p:cNvPr id="5" name="Team Icon" descr="Team icon"/>
          <p:cNvPicPr>
            <a:picLocks noChangeAspect="1"/>
          </p:cNvPicPr>
          <p:nvPr/>
        </p:nvPicPr>
        <p:blipFill>
          <a:blip r:embed="rId3"/>
          <a:stretch>
            <a:fillRect/>
          </a:stretch>
        </p:blipFill>
        <p:spPr>
          <a:xfrm>
            <a:off x="736092" y="548640"/>
            <a:ext cx="365760" cy="365760"/>
          </a:xfrm>
          <a:prstGeom prst="rect">
            <a:avLst/>
          </a:prstGeom>
        </p:spPr>
      </p:pic>
      <p:sp>
        <p:nvSpPr>
          <p:cNvPr id="6" name="Team Name"/>
          <p:cNvSpPr txBox="1"/>
          <p:nvPr/>
        </p:nvSpPr>
        <p:spPr>
          <a:xfrm>
            <a:off x="1371600" y="384048"/>
            <a:ext cx="1627632" cy="694944"/>
          </a:xfrm>
          <a:prstGeom prst="rect">
            <a:avLst/>
          </a:prstGeom>
          <a:noFill/>
          <a:ln/>
        </p:spPr>
        <p:txBody>
          <a:bodyPr wrap="square" lIns="0" tIns="0" rIns="0" bIns="0" rtlCol="0" anchor="ctr">
            <a:normAutofit/>
          </a:bodyPr>
          <a:lstStyle/>
          <a:p>
            <a:pPr marL="0" indent="0">
              <a:buNone/>
            </a:pPr>
            <a:r>
              <a:rPr lang="en-US" sz="900" b="1" kern="0" spc="300" dirty="0">
                <a:solidFill>
                  <a:schemeClr val="accent5"/>
                </a:solidFill>
              </a:rPr>
              <a:t>TEAM</a:t>
            </a:r>
          </a:p>
          <a:p>
            <a:pPr marL="0" indent="0">
              <a:buNone/>
            </a:pPr>
            <a:r>
              <a:rPr lang="en-US" sz="1500" b="1" dirty="0">
                <a:solidFill>
                  <a:schemeClr val="accent1"/>
                </a:solidFill>
              </a:rPr>
              <a:t>TECH FORGE 6</a:t>
            </a:r>
            <a:endParaRPr lang="en-US" sz="900" dirty="0"/>
          </a:p>
        </p:txBody>
      </p:sp>
      <p:sp>
        <p:nvSpPr>
          <p:cNvPr id="7" name="Lead Icon Hex"/>
          <p:cNvSpPr/>
          <p:nvPr/>
        </p:nvSpPr>
        <p:spPr>
          <a:xfrm>
            <a:off x="548640" y="1463040"/>
            <a:ext cx="457200" cy="395935"/>
          </a:xfrm>
          <a:prstGeom prst="hexagon">
            <a:avLst/>
          </a:prstGeom>
          <a:solidFill>
            <a:schemeClr val="accent3"/>
          </a:solidFill>
          <a:ln/>
        </p:spPr>
      </p:sp>
      <p:pic>
        <p:nvPicPr>
          <p:cNvPr id="8" name="Lead Icon" descr="Lightbulb icon"/>
          <p:cNvPicPr>
            <a:picLocks noChangeAspect="1"/>
          </p:cNvPicPr>
          <p:nvPr/>
        </p:nvPicPr>
        <p:blipFill>
          <a:blip r:embed="rId4"/>
          <a:stretch>
            <a:fillRect/>
          </a:stretch>
        </p:blipFill>
        <p:spPr>
          <a:xfrm>
            <a:off x="640080" y="1523390"/>
            <a:ext cx="274320" cy="274320"/>
          </a:xfrm>
          <a:prstGeom prst="rect">
            <a:avLst/>
          </a:prstGeom>
        </p:spPr>
      </p:pic>
      <p:sp>
        <p:nvSpPr>
          <p:cNvPr id="9" name="Lead Text"/>
          <p:cNvSpPr txBox="1"/>
          <p:nvPr/>
        </p:nvSpPr>
        <p:spPr>
          <a:xfrm>
            <a:off x="1170432" y="1417320"/>
            <a:ext cx="9601200" cy="502920"/>
          </a:xfrm>
          <a:prstGeom prst="rect">
            <a:avLst/>
          </a:prstGeom>
          <a:noFill/>
          <a:ln/>
        </p:spPr>
        <p:txBody>
          <a:bodyPr wrap="square" lIns="0" tIns="0" rIns="0" bIns="0" rtlCol="0" anchor="ctr"/>
          <a:lstStyle/>
          <a:p>
            <a:pPr marL="0" indent="0">
              <a:buNone/>
            </a:pPr>
            <a:r>
              <a:rPr lang="en-US" sz="1800" b="1" dirty="0">
                <a:solidFill>
                  <a:schemeClr val="accent2"/>
                </a:solidFill>
              </a:rPr>
              <a:t>Existing scenario, background and how things work today</a:t>
            </a:r>
            <a:endParaRPr lang="en-US" sz="1800" dirty="0"/>
          </a:p>
        </p:txBody>
      </p:sp>
      <p:sp>
        <p:nvSpPr>
          <p:cNvPr id="10" name="Prompts"/>
          <p:cNvSpPr txBox="1"/>
          <p:nvPr/>
        </p:nvSpPr>
        <p:spPr>
          <a:xfrm>
            <a:off x="883920" y="1919325"/>
            <a:ext cx="10424160" cy="4160521"/>
          </a:xfrm>
          <a:prstGeom prst="rect">
            <a:avLst/>
          </a:prstGeom>
          <a:noFill/>
          <a:ln/>
        </p:spPr>
        <p:txBody>
          <a:bodyPr wrap="square" lIns="0" tIns="0" rIns="0" bIns="0" rtlCol="0" anchor="t"/>
          <a:lstStyle/>
          <a:p>
            <a:r>
              <a:rPr lang="en-IN" sz="1500" b="1" dirty="0"/>
              <a:t>   Existing Scenario:</a:t>
            </a:r>
            <a:br>
              <a:rPr lang="en-IN" sz="1500" b="1" dirty="0"/>
            </a:br>
            <a:r>
              <a:rPr lang="en-IN" sz="1500" dirty="0"/>
              <a:t>• A farmer decides the sowing schedule based on experience, season, and market price.</a:t>
            </a:r>
          </a:p>
          <a:p>
            <a:r>
              <a:rPr lang="en-IN" sz="1500" dirty="0"/>
              <a:t>• A set of farmers around him decide on the same crop and sowing schedule.</a:t>
            </a:r>
            <a:br>
              <a:rPr lang="en-IN" sz="1500" dirty="0"/>
            </a:br>
            <a:r>
              <a:rPr lang="en-IN" sz="1500" dirty="0"/>
              <a:t>• This results in an overlap in harvest, which increases the supply in the market and lowers the market price.</a:t>
            </a:r>
          </a:p>
          <a:p>
            <a:endParaRPr lang="en-IN" sz="1500" b="1" dirty="0"/>
          </a:p>
          <a:p>
            <a:r>
              <a:rPr lang="en-IN" sz="1500" b="1" dirty="0"/>
              <a:t>   Relevant data and facts:</a:t>
            </a:r>
            <a:br>
              <a:rPr lang="en-IN" sz="1500" dirty="0"/>
            </a:br>
            <a:r>
              <a:rPr lang="en-IN" sz="1500" dirty="0"/>
              <a:t>• Vegetables are suffering from 4.87%-11.61% of harvest and post-harvest losses (NABCONS, 2022).</a:t>
            </a:r>
            <a:br>
              <a:rPr lang="en-IN" sz="1500" dirty="0"/>
            </a:br>
            <a:r>
              <a:rPr lang="en-IN" sz="1500" dirty="0"/>
              <a:t>• Tomatoes: 11.61%, onions: 7.26%, bananas: 7.57% of harvest and post-harvest losses.</a:t>
            </a:r>
            <a:br>
              <a:rPr lang="en-IN" sz="1500" dirty="0"/>
            </a:br>
            <a:r>
              <a:rPr lang="en-IN" sz="1500" dirty="0"/>
              <a:t>• AGMARKNET provides daily mandi prices and market information, not the collective future sowing intention.</a:t>
            </a:r>
            <a:br>
              <a:rPr lang="en-IN" sz="1500" dirty="0"/>
            </a:br>
            <a:r>
              <a:rPr lang="en-IN" sz="1500" dirty="0"/>
              <a:t>• Farmers need early information about the sowing concentration in a local area to decide their sowing schedule.</a:t>
            </a:r>
          </a:p>
          <a:p>
            <a:br>
              <a:rPr lang="en-IN" sz="1500" dirty="0"/>
            </a:br>
            <a:r>
              <a:rPr lang="en-IN" sz="1500" dirty="0"/>
              <a:t>   </a:t>
            </a:r>
            <a:r>
              <a:rPr lang="en-IN" sz="1500" b="1" dirty="0"/>
              <a:t>Current workflow:</a:t>
            </a:r>
            <a:br>
              <a:rPr lang="en-IN" sz="1500" b="1" dirty="0"/>
            </a:br>
            <a:r>
              <a:rPr lang="en-IN" sz="1500" dirty="0"/>
              <a:t>1. A farmer decides the crop and sowing schedule.</a:t>
            </a:r>
            <a:br>
              <a:rPr lang="en-IN" sz="1500" dirty="0"/>
            </a:br>
            <a:r>
              <a:rPr lang="en-IN" sz="1500" dirty="0"/>
              <a:t>2. Farmers in the nearby locality decide on the same crop and sowing schedule.</a:t>
            </a:r>
            <a:br>
              <a:rPr lang="en-IN" sz="1500" dirty="0"/>
            </a:br>
            <a:r>
              <a:rPr lang="en-IN" sz="1500" dirty="0"/>
              <a:t>3. The crop matures at the same time and enters the market at the same time.</a:t>
            </a:r>
            <a:br>
              <a:rPr lang="en-IN" sz="1500" dirty="0"/>
            </a:br>
            <a:r>
              <a:rPr lang="en-IN" sz="1500" dirty="0"/>
              <a:t>4. There arises competition among farmers for selling their produce.</a:t>
            </a:r>
          </a:p>
          <a:p>
            <a:endParaRPr lang="en-US" sz="1500" dirty="0"/>
          </a:p>
        </p:txBody>
      </p:sp>
      <p:sp>
        <p:nvSpPr>
          <p:cNvPr id="25" name="Slide Number Placeholder 0"/>
          <p:cNvSpPr>
            <a:spLocks noGrp="1"/>
          </p:cNvSpPr>
          <p:nvPr>
            <p:ph type="sldNum" sz="quarter" idx="4294967295"/>
          </p:nvPr>
        </p:nvSpPr>
        <p:spPr>
          <a:xfrm>
            <a:off x="11259007" y="6409944"/>
            <a:ext cx="457200" cy="395935"/>
          </a:xfrm>
          <a:prstGeom prst="rect">
            <a:avLst/>
          </a:prstGeom>
          <a:extLst>
            <a:ext uri="{C572A759-6A51-4108-AA02-DFA0A04FC94B}">
              <ma14:wrappingTextBoxFlag xmlns="" xmlns:ma14="http://schemas.microsoft.com/office/mac/drawingml/2011/main" val="0"/>
            </a:ext>
          </a:extLst>
        </p:spPr>
        <p:txBody>
          <a:bodyPr lIns="0" tIns="0" rIns="0" bIns="0" anchor="ctr"/>
          <a:lstStyle>
            <a:lvl1pPr>
              <a:defRPr sz="1100">
                <a:solidFill>
                  <a:schemeClr val="tx2"/>
                </a:solidFill>
                <a:latin typeface="Calibri"/>
                <a:ea typeface="Calibri"/>
                <a:cs typeface="Calibri"/>
              </a:defRPr>
            </a:lvl1pPr>
          </a:lstStyle>
          <a:p>
            <a:pPr algn="ctr"/>
            <a:fld id="{F7021451-1387-4CA6-816F-3879F97B5CBC}" type="slidenum">
              <a:rPr lang="en-US" b="1"/>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7"/>
          <p:cNvSpPr>
            <a:spLocks noGrp="1"/>
          </p:cNvSpPr>
          <p:nvPr>
            <p:ph type="title" idx="108" hasCustomPrompt="1"/>
          </p:nvPr>
        </p:nvSpPr>
        <p:spPr>
          <a:xfrm>
            <a:off x="3246120" y="320040"/>
            <a:ext cx="7498080" cy="822960"/>
          </a:xfrm>
          <a:prstGeom prst="rect">
            <a:avLst/>
          </a:prstGeom>
          <a:noFill/>
          <a:ln/>
        </p:spPr>
        <p:txBody>
          <a:bodyPr wrap="square" lIns="0" tIns="0" rIns="0" bIns="0" rtlCol="0" anchor="ctr"/>
          <a:lstStyle/>
          <a:p>
            <a:pPr marL="0" indent="0" algn="ctr">
              <a:buNone/>
            </a:pPr>
            <a:r>
              <a:rPr lang="en-US" sz="2400" b="1" kern="0" spc="100" dirty="0">
                <a:solidFill>
                  <a:schemeClr val="tx2"/>
                </a:solidFill>
                <a:latin typeface="Cambria" pitchFamily="34" charset="0"/>
                <a:ea typeface="Cambria" pitchFamily="34" charset="-122"/>
                <a:cs typeface="Cambria" pitchFamily="34" charset="-120"/>
              </a:rPr>
              <a:t>KEY CHALLENGES</a:t>
            </a:r>
            <a:endParaRPr lang="en-US" sz="2400" dirty="0"/>
          </a:p>
        </p:txBody>
      </p:sp>
      <p:sp>
        <p:nvSpPr>
          <p:cNvPr id="3" name="Team Badge"/>
          <p:cNvSpPr/>
          <p:nvPr/>
        </p:nvSpPr>
        <p:spPr>
          <a:xfrm>
            <a:off x="457200" y="320040"/>
            <a:ext cx="2606040" cy="822960"/>
          </a:xfrm>
          <a:prstGeom prst="roundRect">
            <a:avLst>
              <a:gd name="adj" fmla="val 13333"/>
            </a:avLst>
          </a:prstGeom>
          <a:solidFill>
            <a:schemeClr val="bg1"/>
          </a:solidFill>
          <a:ln w="9525">
            <a:solidFill>
              <a:schemeClr val="accent6"/>
            </a:solidFill>
            <a:prstDash val="solid"/>
          </a:ln>
        </p:spPr>
      </p:sp>
      <p:sp>
        <p:nvSpPr>
          <p:cNvPr id="4" name="Team Icon Hex"/>
          <p:cNvSpPr/>
          <p:nvPr/>
        </p:nvSpPr>
        <p:spPr>
          <a:xfrm>
            <a:off x="603504" y="457200"/>
            <a:ext cx="630936" cy="548640"/>
          </a:xfrm>
          <a:prstGeom prst="hexagon">
            <a:avLst/>
          </a:prstGeom>
          <a:solidFill>
            <a:schemeClr val="bg2"/>
          </a:solidFill>
          <a:ln w="9525">
            <a:solidFill>
              <a:schemeClr val="accent6"/>
            </a:solidFill>
            <a:prstDash val="solid"/>
          </a:ln>
        </p:spPr>
      </p:sp>
      <p:pic>
        <p:nvPicPr>
          <p:cNvPr id="5" name="Team Icon" descr="Team icon"/>
          <p:cNvPicPr>
            <a:picLocks noChangeAspect="1"/>
          </p:cNvPicPr>
          <p:nvPr/>
        </p:nvPicPr>
        <p:blipFill>
          <a:blip r:embed="rId3"/>
          <a:stretch>
            <a:fillRect/>
          </a:stretch>
        </p:blipFill>
        <p:spPr>
          <a:xfrm>
            <a:off x="736092" y="548640"/>
            <a:ext cx="365760" cy="365760"/>
          </a:xfrm>
          <a:prstGeom prst="rect">
            <a:avLst/>
          </a:prstGeom>
        </p:spPr>
      </p:pic>
      <p:sp>
        <p:nvSpPr>
          <p:cNvPr id="6" name="Team Name"/>
          <p:cNvSpPr txBox="1"/>
          <p:nvPr/>
        </p:nvSpPr>
        <p:spPr>
          <a:xfrm>
            <a:off x="1371600" y="384048"/>
            <a:ext cx="1627632" cy="694944"/>
          </a:xfrm>
          <a:prstGeom prst="rect">
            <a:avLst/>
          </a:prstGeom>
          <a:noFill/>
          <a:ln/>
        </p:spPr>
        <p:txBody>
          <a:bodyPr wrap="square" lIns="0" tIns="0" rIns="0" bIns="0" rtlCol="0" anchor="ctr">
            <a:normAutofit/>
          </a:bodyPr>
          <a:lstStyle/>
          <a:p>
            <a:pPr marL="0" indent="0">
              <a:buNone/>
            </a:pPr>
            <a:r>
              <a:rPr lang="en-US" sz="900" b="1" kern="0" spc="300" dirty="0">
                <a:solidFill>
                  <a:schemeClr val="accent5"/>
                </a:solidFill>
              </a:rPr>
              <a:t>TEAM</a:t>
            </a:r>
            <a:endParaRPr lang="en-US" sz="900" dirty="0"/>
          </a:p>
          <a:p>
            <a:pPr marL="0" indent="0">
              <a:buNone/>
            </a:pPr>
            <a:r>
              <a:rPr lang="en-US" sz="1500" b="1" dirty="0">
                <a:solidFill>
                  <a:schemeClr val="accent1"/>
                </a:solidFill>
              </a:rPr>
              <a:t>TECH FORGE 6</a:t>
            </a:r>
            <a:endParaRPr lang="en-US" sz="900" dirty="0"/>
          </a:p>
        </p:txBody>
      </p:sp>
      <p:sp>
        <p:nvSpPr>
          <p:cNvPr id="7" name="Lead Icon Hex"/>
          <p:cNvSpPr/>
          <p:nvPr/>
        </p:nvSpPr>
        <p:spPr>
          <a:xfrm>
            <a:off x="548640" y="1463040"/>
            <a:ext cx="457200" cy="395935"/>
          </a:xfrm>
          <a:prstGeom prst="hexagon">
            <a:avLst/>
          </a:prstGeom>
          <a:solidFill>
            <a:schemeClr val="accent3"/>
          </a:solidFill>
          <a:ln/>
        </p:spPr>
      </p:sp>
      <p:pic>
        <p:nvPicPr>
          <p:cNvPr id="8" name="Lead Icon" descr="Lightbulb icon"/>
          <p:cNvPicPr>
            <a:picLocks noChangeAspect="1"/>
          </p:cNvPicPr>
          <p:nvPr/>
        </p:nvPicPr>
        <p:blipFill>
          <a:blip r:embed="rId4"/>
          <a:stretch>
            <a:fillRect/>
          </a:stretch>
        </p:blipFill>
        <p:spPr>
          <a:xfrm>
            <a:off x="640080" y="1523390"/>
            <a:ext cx="274320" cy="274320"/>
          </a:xfrm>
          <a:prstGeom prst="rect">
            <a:avLst/>
          </a:prstGeom>
        </p:spPr>
      </p:pic>
      <p:sp>
        <p:nvSpPr>
          <p:cNvPr id="9" name="Lead Text"/>
          <p:cNvSpPr txBox="1"/>
          <p:nvPr/>
        </p:nvSpPr>
        <p:spPr>
          <a:xfrm>
            <a:off x="1170432" y="1417320"/>
            <a:ext cx="9601200" cy="502920"/>
          </a:xfrm>
          <a:prstGeom prst="rect">
            <a:avLst/>
          </a:prstGeom>
          <a:noFill/>
          <a:ln/>
        </p:spPr>
        <p:txBody>
          <a:bodyPr wrap="square" lIns="0" tIns="0" rIns="0" bIns="0" rtlCol="0" anchor="ctr"/>
          <a:lstStyle/>
          <a:p>
            <a:pPr marL="0" indent="0">
              <a:buNone/>
            </a:pPr>
            <a:r>
              <a:rPr lang="en-US" sz="1800" b="1" dirty="0">
                <a:solidFill>
                  <a:schemeClr val="accent2"/>
                </a:solidFill>
              </a:rPr>
              <a:t>Main difficulties, bottlenecks, root causes and consequences</a:t>
            </a:r>
            <a:endParaRPr lang="en-US" sz="1800" dirty="0"/>
          </a:p>
        </p:txBody>
      </p:sp>
      <p:sp>
        <p:nvSpPr>
          <p:cNvPr id="10" name="Prompts"/>
          <p:cNvSpPr txBox="1"/>
          <p:nvPr/>
        </p:nvSpPr>
        <p:spPr>
          <a:xfrm>
            <a:off x="868680" y="2148839"/>
            <a:ext cx="10424160" cy="3897397"/>
          </a:xfrm>
          <a:prstGeom prst="rect">
            <a:avLst/>
          </a:prstGeom>
          <a:noFill/>
          <a:ln/>
        </p:spPr>
        <p:txBody>
          <a:bodyPr wrap="square" lIns="0" tIns="0" rIns="0" bIns="0" rtlCol="0" anchor="t"/>
          <a:lstStyle/>
          <a:p>
            <a:r>
              <a:rPr lang="en-IN" sz="1500" b="1" dirty="0"/>
              <a:t>Main difficulties are:</a:t>
            </a:r>
            <a:br>
              <a:rPr lang="en-IN" sz="1500" dirty="0"/>
            </a:br>
            <a:r>
              <a:rPr lang="en-IN" sz="1500" dirty="0"/>
              <a:t>1. There is no sharing of information about sowing at the taluk level.</a:t>
            </a:r>
            <a:br>
              <a:rPr lang="en-IN" sz="1500" dirty="0"/>
            </a:br>
            <a:r>
              <a:rPr lang="en-IN" sz="1500" dirty="0"/>
              <a:t>2. There is no early warning if there is a possibility of overlapping harvests.</a:t>
            </a:r>
            <a:br>
              <a:rPr lang="en-IN" sz="1500" dirty="0"/>
            </a:br>
            <a:r>
              <a:rPr lang="en-IN" sz="1500" dirty="0"/>
              <a:t>3. The farmers have less time to respond to an impending harvest.</a:t>
            </a:r>
          </a:p>
          <a:p>
            <a:br>
              <a:rPr lang="en-IN" sz="1500" b="1" dirty="0"/>
            </a:br>
            <a:r>
              <a:rPr lang="en-IN" sz="1500" b="1" dirty="0"/>
              <a:t>Reasons:</a:t>
            </a:r>
          </a:p>
          <a:p>
            <a:r>
              <a:rPr lang="en-IN" sz="1500" dirty="0"/>
              <a:t>1. The planting information is fragmented.</a:t>
            </a:r>
            <a:br>
              <a:rPr lang="en-IN" sz="1500" dirty="0"/>
            </a:br>
            <a:r>
              <a:rPr lang="en-IN" sz="1500" dirty="0"/>
              <a:t>2. There is a lack of tools that can help to relate planting information to the upcoming harvests.</a:t>
            </a:r>
            <a:br>
              <a:rPr lang="en-IN" sz="1500" dirty="0"/>
            </a:br>
            <a:r>
              <a:rPr lang="en-IN" sz="1500" dirty="0"/>
              <a:t>3. There are issues related to digital literacy, connectivity and adoption.</a:t>
            </a:r>
          </a:p>
          <a:p>
            <a:br>
              <a:rPr lang="en-IN" sz="1500" b="1" dirty="0"/>
            </a:br>
            <a:r>
              <a:rPr lang="en-IN" sz="1500" b="1" dirty="0"/>
              <a:t>Impact:</a:t>
            </a:r>
          </a:p>
          <a:p>
            <a:r>
              <a:rPr lang="en-IN" sz="1500" dirty="0"/>
              <a:t>1. There is a risk of glut and consequent fall in prices because of distress selling and wastage.</a:t>
            </a:r>
            <a:br>
              <a:rPr lang="en-IN" sz="1500" dirty="0"/>
            </a:br>
            <a:r>
              <a:rPr lang="en-IN" sz="1500" dirty="0"/>
              <a:t>2. There is a risk of not getting good prices and wastage due to poor planning.</a:t>
            </a:r>
          </a:p>
          <a:p>
            <a:pPr marL="279400" indent="-279400">
              <a:spcAft>
                <a:spcPts val="1000"/>
              </a:spcAft>
              <a:buClr>
                <a:schemeClr val="accent1"/>
              </a:buClr>
              <a:buSzPct val="100000"/>
              <a:buChar char="•"/>
            </a:pPr>
            <a:endParaRPr lang="en-US" sz="1500" dirty="0"/>
          </a:p>
        </p:txBody>
      </p:sp>
      <p:sp>
        <p:nvSpPr>
          <p:cNvPr id="25" name="Slide Number Placeholder 0"/>
          <p:cNvSpPr>
            <a:spLocks noGrp="1"/>
          </p:cNvSpPr>
          <p:nvPr>
            <p:ph type="sldNum" sz="quarter" idx="4294967295"/>
          </p:nvPr>
        </p:nvSpPr>
        <p:spPr>
          <a:xfrm>
            <a:off x="11259007" y="6409944"/>
            <a:ext cx="457200" cy="395935"/>
          </a:xfrm>
          <a:prstGeom prst="rect">
            <a:avLst/>
          </a:prstGeom>
          <a:extLst>
            <a:ext uri="{C572A759-6A51-4108-AA02-DFA0A04FC94B}">
              <ma14:wrappingTextBoxFlag xmlns="" xmlns:ma14="http://schemas.microsoft.com/office/mac/drawingml/2011/main" val="0"/>
            </a:ext>
          </a:extLst>
        </p:spPr>
        <p:txBody>
          <a:bodyPr lIns="0" tIns="0" rIns="0" bIns="0" anchor="ctr"/>
          <a:lstStyle>
            <a:lvl1pPr>
              <a:defRPr sz="1100">
                <a:solidFill>
                  <a:schemeClr val="tx2"/>
                </a:solidFill>
                <a:latin typeface="Calibri"/>
                <a:ea typeface="Calibri"/>
                <a:cs typeface="Calibri"/>
              </a:defRPr>
            </a:lvl1pPr>
          </a:lstStyle>
          <a:p>
            <a:pPr algn="ctr"/>
            <a:fld id="{F7021451-1387-4CA6-816F-3879F97B5CBC}" type="slidenum">
              <a:rPr lang="en-US" b="1"/>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7"/>
          <p:cNvSpPr>
            <a:spLocks noGrp="1"/>
          </p:cNvSpPr>
          <p:nvPr>
            <p:ph type="title" idx="108" hasCustomPrompt="1"/>
          </p:nvPr>
        </p:nvSpPr>
        <p:spPr>
          <a:xfrm>
            <a:off x="3246120" y="320040"/>
            <a:ext cx="7498080" cy="822960"/>
          </a:xfrm>
          <a:prstGeom prst="rect">
            <a:avLst/>
          </a:prstGeom>
          <a:noFill/>
          <a:ln/>
        </p:spPr>
        <p:txBody>
          <a:bodyPr wrap="square" lIns="0" tIns="0" rIns="0" bIns="0" rtlCol="0" anchor="ctr"/>
          <a:lstStyle/>
          <a:p>
            <a:pPr marL="0" indent="0" algn="ctr">
              <a:buNone/>
            </a:pPr>
            <a:r>
              <a:rPr lang="en-US" sz="2400" b="1" kern="0" spc="100" dirty="0">
                <a:solidFill>
                  <a:schemeClr val="tx2"/>
                </a:solidFill>
                <a:latin typeface="Cambria" pitchFamily="34" charset="0"/>
                <a:ea typeface="Cambria" pitchFamily="34" charset="-122"/>
                <a:cs typeface="Cambria" pitchFamily="34" charset="-120"/>
              </a:rPr>
              <a:t>EXISTING SOLUTIONS / APPROACHES</a:t>
            </a:r>
            <a:endParaRPr lang="en-US" sz="2400" dirty="0"/>
          </a:p>
        </p:txBody>
      </p:sp>
      <p:sp>
        <p:nvSpPr>
          <p:cNvPr id="3" name="Team Badge"/>
          <p:cNvSpPr/>
          <p:nvPr/>
        </p:nvSpPr>
        <p:spPr>
          <a:xfrm>
            <a:off x="457200" y="320040"/>
            <a:ext cx="2606040" cy="822960"/>
          </a:xfrm>
          <a:prstGeom prst="roundRect">
            <a:avLst>
              <a:gd name="adj" fmla="val 13333"/>
            </a:avLst>
          </a:prstGeom>
          <a:solidFill>
            <a:schemeClr val="bg1"/>
          </a:solidFill>
          <a:ln w="9525">
            <a:solidFill>
              <a:schemeClr val="accent6"/>
            </a:solidFill>
            <a:prstDash val="solid"/>
          </a:ln>
        </p:spPr>
      </p:sp>
      <p:sp>
        <p:nvSpPr>
          <p:cNvPr id="4" name="Team Icon Hex"/>
          <p:cNvSpPr/>
          <p:nvPr/>
        </p:nvSpPr>
        <p:spPr>
          <a:xfrm>
            <a:off x="603504" y="457200"/>
            <a:ext cx="630936" cy="548640"/>
          </a:xfrm>
          <a:prstGeom prst="hexagon">
            <a:avLst/>
          </a:prstGeom>
          <a:solidFill>
            <a:schemeClr val="bg2"/>
          </a:solidFill>
          <a:ln w="9525">
            <a:solidFill>
              <a:schemeClr val="accent6"/>
            </a:solidFill>
            <a:prstDash val="solid"/>
          </a:ln>
        </p:spPr>
      </p:sp>
      <p:pic>
        <p:nvPicPr>
          <p:cNvPr id="5" name="Team Icon" descr="Team icon"/>
          <p:cNvPicPr>
            <a:picLocks noChangeAspect="1"/>
          </p:cNvPicPr>
          <p:nvPr/>
        </p:nvPicPr>
        <p:blipFill>
          <a:blip r:embed="rId3"/>
          <a:stretch>
            <a:fillRect/>
          </a:stretch>
        </p:blipFill>
        <p:spPr>
          <a:xfrm>
            <a:off x="736092" y="548640"/>
            <a:ext cx="365760" cy="365760"/>
          </a:xfrm>
          <a:prstGeom prst="rect">
            <a:avLst/>
          </a:prstGeom>
        </p:spPr>
      </p:pic>
      <p:sp>
        <p:nvSpPr>
          <p:cNvPr id="6" name="Team Name"/>
          <p:cNvSpPr txBox="1"/>
          <p:nvPr/>
        </p:nvSpPr>
        <p:spPr>
          <a:xfrm>
            <a:off x="1371600" y="384048"/>
            <a:ext cx="1627632" cy="694944"/>
          </a:xfrm>
          <a:prstGeom prst="rect">
            <a:avLst/>
          </a:prstGeom>
          <a:noFill/>
          <a:ln/>
        </p:spPr>
        <p:txBody>
          <a:bodyPr wrap="square" lIns="0" tIns="0" rIns="0" bIns="0" rtlCol="0" anchor="ctr">
            <a:normAutofit/>
          </a:bodyPr>
          <a:lstStyle/>
          <a:p>
            <a:pPr marL="0" indent="0">
              <a:buNone/>
            </a:pPr>
            <a:r>
              <a:rPr lang="en-US" sz="900" b="1" kern="0" spc="300" dirty="0">
                <a:solidFill>
                  <a:schemeClr val="accent5"/>
                </a:solidFill>
              </a:rPr>
              <a:t>TEAM</a:t>
            </a:r>
            <a:endParaRPr lang="en-US" sz="900" dirty="0"/>
          </a:p>
          <a:p>
            <a:pPr marL="0" indent="0">
              <a:buNone/>
            </a:pPr>
            <a:r>
              <a:rPr lang="en-US" sz="1500" b="1" dirty="0">
                <a:solidFill>
                  <a:schemeClr val="accent1"/>
                </a:solidFill>
              </a:rPr>
              <a:t>TECH FORGE 6</a:t>
            </a:r>
            <a:endParaRPr lang="en-US" sz="900" dirty="0"/>
          </a:p>
        </p:txBody>
      </p:sp>
      <p:sp>
        <p:nvSpPr>
          <p:cNvPr id="7" name="Lead Icon Hex"/>
          <p:cNvSpPr/>
          <p:nvPr/>
        </p:nvSpPr>
        <p:spPr>
          <a:xfrm>
            <a:off x="548640" y="1463040"/>
            <a:ext cx="457200" cy="395935"/>
          </a:xfrm>
          <a:prstGeom prst="hexagon">
            <a:avLst/>
          </a:prstGeom>
          <a:solidFill>
            <a:schemeClr val="accent3"/>
          </a:solidFill>
          <a:ln/>
        </p:spPr>
      </p:sp>
      <p:pic>
        <p:nvPicPr>
          <p:cNvPr id="8" name="Lead Icon" descr="Lightbulb icon"/>
          <p:cNvPicPr>
            <a:picLocks noChangeAspect="1"/>
          </p:cNvPicPr>
          <p:nvPr/>
        </p:nvPicPr>
        <p:blipFill>
          <a:blip r:embed="rId4"/>
          <a:stretch>
            <a:fillRect/>
          </a:stretch>
        </p:blipFill>
        <p:spPr>
          <a:xfrm>
            <a:off x="640080" y="1523390"/>
            <a:ext cx="274320" cy="274320"/>
          </a:xfrm>
          <a:prstGeom prst="rect">
            <a:avLst/>
          </a:prstGeom>
        </p:spPr>
      </p:pic>
      <p:sp>
        <p:nvSpPr>
          <p:cNvPr id="9" name="Lead Text"/>
          <p:cNvSpPr txBox="1"/>
          <p:nvPr/>
        </p:nvSpPr>
        <p:spPr>
          <a:xfrm>
            <a:off x="1170432" y="1417320"/>
            <a:ext cx="9601200" cy="502920"/>
          </a:xfrm>
          <a:prstGeom prst="rect">
            <a:avLst/>
          </a:prstGeom>
          <a:noFill/>
          <a:ln/>
        </p:spPr>
        <p:txBody>
          <a:bodyPr wrap="square" lIns="0" tIns="0" rIns="0" bIns="0" rtlCol="0" anchor="ctr"/>
          <a:lstStyle/>
          <a:p>
            <a:pPr marL="0" indent="0">
              <a:buNone/>
            </a:pPr>
            <a:r>
              <a:rPr lang="en-US" sz="1800" b="1" dirty="0">
                <a:solidFill>
                  <a:schemeClr val="accent2"/>
                </a:solidFill>
              </a:rPr>
              <a:t>What is already being done, and where it falls short</a:t>
            </a:r>
            <a:endParaRPr lang="en-US" sz="1800" dirty="0"/>
          </a:p>
        </p:txBody>
      </p:sp>
      <p:sp>
        <p:nvSpPr>
          <p:cNvPr id="10" name="Prompts"/>
          <p:cNvSpPr txBox="1"/>
          <p:nvPr/>
        </p:nvSpPr>
        <p:spPr>
          <a:xfrm>
            <a:off x="868680" y="1992719"/>
            <a:ext cx="10424160" cy="3990703"/>
          </a:xfrm>
          <a:prstGeom prst="rect">
            <a:avLst/>
          </a:prstGeom>
          <a:noFill/>
          <a:ln/>
        </p:spPr>
        <p:txBody>
          <a:bodyPr wrap="square" lIns="0" tIns="0" rIns="0" bIns="0" rtlCol="0" anchor="t"/>
          <a:lstStyle/>
          <a:p>
            <a:r>
              <a:rPr lang="en-IN" sz="1500" b="1" dirty="0"/>
              <a:t>Existing solutions:</a:t>
            </a:r>
          </a:p>
          <a:p>
            <a:endParaRPr lang="en-IN" sz="1500" b="1" dirty="0"/>
          </a:p>
          <a:p>
            <a:r>
              <a:rPr lang="en-IN" sz="1500" b="1" dirty="0" err="1"/>
              <a:t>Agmarknet</a:t>
            </a:r>
            <a:r>
              <a:rPr lang="en-IN" sz="1500" b="1" dirty="0"/>
              <a:t>:</a:t>
            </a:r>
          </a:p>
          <a:p>
            <a:r>
              <a:rPr lang="en-IN" sz="1500" dirty="0"/>
              <a:t>Gives mandi prices and commodity arrival info. Does not directly address a solution for future farmer sowing intentions.</a:t>
            </a:r>
          </a:p>
          <a:p>
            <a:r>
              <a:rPr lang="en-IN" sz="1500" b="1" dirty="0"/>
              <a:t>e-NAM:</a:t>
            </a:r>
          </a:p>
          <a:p>
            <a:r>
              <a:rPr lang="en-IN" sz="1500" dirty="0"/>
              <a:t>e-NAM aims at electronic trading of agricultural produce and market price discovery. This addresses the marketing aspect of the problem.</a:t>
            </a:r>
          </a:p>
          <a:p>
            <a:r>
              <a:rPr lang="en-IN" sz="1500" b="1" dirty="0" err="1"/>
              <a:t>Meghdoot</a:t>
            </a:r>
            <a:r>
              <a:rPr lang="en-IN" sz="1500" b="1" dirty="0"/>
              <a:t>:</a:t>
            </a:r>
          </a:p>
          <a:p>
            <a:r>
              <a:rPr lang="en-IN" sz="1500" dirty="0"/>
              <a:t>Gives weather-based </a:t>
            </a:r>
            <a:r>
              <a:rPr lang="en-IN" sz="1500" dirty="0" err="1"/>
              <a:t>agro</a:t>
            </a:r>
            <a:r>
              <a:rPr lang="en-IN" sz="1500" dirty="0"/>
              <a:t> advisories but does not provide a common repository for taluk-level sowing registry.</a:t>
            </a:r>
          </a:p>
          <a:p>
            <a:r>
              <a:rPr lang="en-IN" sz="1500" b="1" dirty="0"/>
              <a:t>Traditional Advisory:</a:t>
            </a:r>
          </a:p>
          <a:p>
            <a:r>
              <a:rPr lang="en-IN" sz="1500" dirty="0"/>
              <a:t>Farmers depend on their own experience, local wisdom and other such indirect means.</a:t>
            </a:r>
          </a:p>
          <a:p>
            <a:r>
              <a:rPr lang="en-IN" sz="1500" b="1" dirty="0"/>
              <a:t>Identified Gap:</a:t>
            </a:r>
          </a:p>
          <a:p>
            <a:r>
              <a:rPr lang="en-IN" sz="1500" dirty="0"/>
              <a:t>No integrated, accessible workflow connecting collective sowing intentions, predicted harvest overlap, and pre-sowing coordination for farmers in a taluk.</a:t>
            </a:r>
          </a:p>
          <a:p>
            <a:br>
              <a:rPr lang="en-IN" sz="1500" dirty="0"/>
            </a:br>
            <a:endParaRPr lang="en-IN" sz="1500" dirty="0"/>
          </a:p>
          <a:p>
            <a:br>
              <a:rPr lang="en-IN" sz="1500" dirty="0"/>
            </a:br>
            <a:endParaRPr lang="en-IN" sz="1500" dirty="0"/>
          </a:p>
          <a:p>
            <a:pPr marL="279400" indent="-279400">
              <a:spcAft>
                <a:spcPts val="1000"/>
              </a:spcAft>
              <a:buClr>
                <a:schemeClr val="accent1"/>
              </a:buClr>
              <a:buSzPct val="100000"/>
              <a:buChar char="•"/>
            </a:pPr>
            <a:endParaRPr lang="en-US" sz="1500" dirty="0"/>
          </a:p>
        </p:txBody>
      </p:sp>
      <p:sp>
        <p:nvSpPr>
          <p:cNvPr id="25" name="Slide Number Placeholder 0"/>
          <p:cNvSpPr>
            <a:spLocks noGrp="1"/>
          </p:cNvSpPr>
          <p:nvPr>
            <p:ph type="sldNum" sz="quarter" idx="4294967295"/>
          </p:nvPr>
        </p:nvSpPr>
        <p:spPr>
          <a:xfrm>
            <a:off x="11259007" y="6409944"/>
            <a:ext cx="457200" cy="395935"/>
          </a:xfrm>
          <a:prstGeom prst="rect">
            <a:avLst/>
          </a:prstGeom>
          <a:extLst>
            <a:ext uri="{C572A759-6A51-4108-AA02-DFA0A04FC94B}">
              <ma14:wrappingTextBoxFlag xmlns="" xmlns:ma14="http://schemas.microsoft.com/office/mac/drawingml/2011/main" val="0"/>
            </a:ext>
          </a:extLst>
        </p:spPr>
        <p:txBody>
          <a:bodyPr lIns="0" tIns="0" rIns="0" bIns="0" anchor="ctr"/>
          <a:lstStyle>
            <a:lvl1pPr>
              <a:defRPr sz="1100">
                <a:solidFill>
                  <a:schemeClr val="tx2"/>
                </a:solidFill>
                <a:latin typeface="Calibri"/>
                <a:ea typeface="Calibri"/>
                <a:cs typeface="Calibri"/>
              </a:defRPr>
            </a:lvl1pPr>
          </a:lstStyle>
          <a:p>
            <a:pPr algn="ctr"/>
            <a:fld id="{F7021451-1387-4CA6-816F-3879F97B5CBC}" type="slidenum">
              <a:rPr lang="en-US" b="1"/>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7"/>
          <p:cNvSpPr>
            <a:spLocks noGrp="1"/>
          </p:cNvSpPr>
          <p:nvPr>
            <p:ph type="title" idx="108" hasCustomPrompt="1"/>
          </p:nvPr>
        </p:nvSpPr>
        <p:spPr>
          <a:xfrm>
            <a:off x="3246120" y="320040"/>
            <a:ext cx="7498080" cy="822960"/>
          </a:xfrm>
          <a:prstGeom prst="rect">
            <a:avLst/>
          </a:prstGeom>
          <a:noFill/>
          <a:ln/>
        </p:spPr>
        <p:txBody>
          <a:bodyPr wrap="square" lIns="0" tIns="0" rIns="0" bIns="0" rtlCol="0" anchor="ctr"/>
          <a:lstStyle/>
          <a:p>
            <a:pPr marL="0" indent="0" algn="ctr">
              <a:buNone/>
            </a:pPr>
            <a:r>
              <a:rPr lang="en-US" sz="2400" b="1" kern="0" spc="100" dirty="0">
                <a:solidFill>
                  <a:schemeClr val="tx2"/>
                </a:solidFill>
                <a:latin typeface="Cambria" pitchFamily="34" charset="0"/>
                <a:ea typeface="Cambria" pitchFamily="34" charset="-122"/>
                <a:cs typeface="Cambria" pitchFamily="34" charset="-120"/>
              </a:rPr>
              <a:t>PROBLEM INSIGHTS &amp; OPPORTUNITY AREAS</a:t>
            </a:r>
            <a:endParaRPr lang="en-US" sz="2400" dirty="0"/>
          </a:p>
        </p:txBody>
      </p:sp>
      <p:sp>
        <p:nvSpPr>
          <p:cNvPr id="3" name="Team Badge"/>
          <p:cNvSpPr/>
          <p:nvPr/>
        </p:nvSpPr>
        <p:spPr>
          <a:xfrm>
            <a:off x="457200" y="320040"/>
            <a:ext cx="2606040" cy="822960"/>
          </a:xfrm>
          <a:prstGeom prst="roundRect">
            <a:avLst>
              <a:gd name="adj" fmla="val 13333"/>
            </a:avLst>
          </a:prstGeom>
          <a:solidFill>
            <a:schemeClr val="bg1"/>
          </a:solidFill>
          <a:ln w="9525">
            <a:solidFill>
              <a:schemeClr val="accent6"/>
            </a:solidFill>
            <a:prstDash val="solid"/>
          </a:ln>
        </p:spPr>
      </p:sp>
      <p:sp>
        <p:nvSpPr>
          <p:cNvPr id="4" name="Team Icon Hex"/>
          <p:cNvSpPr/>
          <p:nvPr/>
        </p:nvSpPr>
        <p:spPr>
          <a:xfrm>
            <a:off x="603504" y="457200"/>
            <a:ext cx="630936" cy="548640"/>
          </a:xfrm>
          <a:prstGeom prst="hexagon">
            <a:avLst/>
          </a:prstGeom>
          <a:solidFill>
            <a:schemeClr val="bg2"/>
          </a:solidFill>
          <a:ln w="9525">
            <a:solidFill>
              <a:schemeClr val="accent6"/>
            </a:solidFill>
            <a:prstDash val="solid"/>
          </a:ln>
        </p:spPr>
      </p:sp>
      <p:pic>
        <p:nvPicPr>
          <p:cNvPr id="5" name="Team Icon" descr="Team icon"/>
          <p:cNvPicPr>
            <a:picLocks noChangeAspect="1"/>
          </p:cNvPicPr>
          <p:nvPr/>
        </p:nvPicPr>
        <p:blipFill>
          <a:blip r:embed="rId3"/>
          <a:stretch>
            <a:fillRect/>
          </a:stretch>
        </p:blipFill>
        <p:spPr>
          <a:xfrm>
            <a:off x="736092" y="548640"/>
            <a:ext cx="365760" cy="365760"/>
          </a:xfrm>
          <a:prstGeom prst="rect">
            <a:avLst/>
          </a:prstGeom>
        </p:spPr>
      </p:pic>
      <p:sp>
        <p:nvSpPr>
          <p:cNvPr id="6" name="Team Name"/>
          <p:cNvSpPr txBox="1"/>
          <p:nvPr/>
        </p:nvSpPr>
        <p:spPr>
          <a:xfrm>
            <a:off x="1371600" y="384048"/>
            <a:ext cx="1627632" cy="694944"/>
          </a:xfrm>
          <a:prstGeom prst="rect">
            <a:avLst/>
          </a:prstGeom>
          <a:noFill/>
          <a:ln/>
        </p:spPr>
        <p:txBody>
          <a:bodyPr wrap="square" lIns="0" tIns="0" rIns="0" bIns="0" rtlCol="0" anchor="ctr">
            <a:normAutofit/>
          </a:bodyPr>
          <a:lstStyle/>
          <a:p>
            <a:pPr marL="0" indent="0">
              <a:buNone/>
            </a:pPr>
            <a:r>
              <a:rPr lang="en-US" sz="900" b="1" kern="0" spc="300" dirty="0">
                <a:solidFill>
                  <a:schemeClr val="accent5"/>
                </a:solidFill>
              </a:rPr>
              <a:t>TEAM</a:t>
            </a:r>
            <a:endParaRPr lang="en-US" sz="900" dirty="0"/>
          </a:p>
          <a:p>
            <a:pPr marL="0" indent="0">
              <a:buNone/>
            </a:pPr>
            <a:r>
              <a:rPr lang="en-US" sz="1500" b="1" dirty="0">
                <a:solidFill>
                  <a:schemeClr val="accent1"/>
                </a:solidFill>
              </a:rPr>
              <a:t>TECH FORGE 6</a:t>
            </a:r>
            <a:endParaRPr lang="en-US" sz="900" dirty="0"/>
          </a:p>
        </p:txBody>
      </p:sp>
      <p:sp>
        <p:nvSpPr>
          <p:cNvPr id="7" name="Lead Icon Hex"/>
          <p:cNvSpPr/>
          <p:nvPr/>
        </p:nvSpPr>
        <p:spPr>
          <a:xfrm>
            <a:off x="548640" y="1463040"/>
            <a:ext cx="457200" cy="395935"/>
          </a:xfrm>
          <a:prstGeom prst="hexagon">
            <a:avLst/>
          </a:prstGeom>
          <a:solidFill>
            <a:schemeClr val="accent3"/>
          </a:solidFill>
          <a:ln/>
        </p:spPr>
      </p:sp>
      <p:pic>
        <p:nvPicPr>
          <p:cNvPr id="8" name="Lead Icon" descr="Lightbulb icon"/>
          <p:cNvPicPr>
            <a:picLocks noChangeAspect="1"/>
          </p:cNvPicPr>
          <p:nvPr/>
        </p:nvPicPr>
        <p:blipFill>
          <a:blip r:embed="rId4"/>
          <a:stretch>
            <a:fillRect/>
          </a:stretch>
        </p:blipFill>
        <p:spPr>
          <a:xfrm>
            <a:off x="640080" y="1523390"/>
            <a:ext cx="274320" cy="274320"/>
          </a:xfrm>
          <a:prstGeom prst="rect">
            <a:avLst/>
          </a:prstGeom>
        </p:spPr>
      </p:pic>
      <p:sp>
        <p:nvSpPr>
          <p:cNvPr id="9" name="Lead Text"/>
          <p:cNvSpPr txBox="1"/>
          <p:nvPr/>
        </p:nvSpPr>
        <p:spPr>
          <a:xfrm>
            <a:off x="1170432" y="1417320"/>
            <a:ext cx="9601200" cy="502920"/>
          </a:xfrm>
          <a:prstGeom prst="rect">
            <a:avLst/>
          </a:prstGeom>
          <a:noFill/>
          <a:ln/>
        </p:spPr>
        <p:txBody>
          <a:bodyPr wrap="square" lIns="0" tIns="0" rIns="0" bIns="0" rtlCol="0" anchor="ctr"/>
          <a:lstStyle/>
          <a:p>
            <a:pPr marL="0" indent="0">
              <a:buNone/>
            </a:pPr>
            <a:r>
              <a:rPr lang="en-US" sz="1800" b="1" dirty="0">
                <a:solidFill>
                  <a:schemeClr val="accent2"/>
                </a:solidFill>
              </a:rPr>
              <a:t>Resources required to solve the problem</a:t>
            </a:r>
            <a:endParaRPr lang="en-US" sz="1800" dirty="0"/>
          </a:p>
        </p:txBody>
      </p:sp>
      <p:sp>
        <p:nvSpPr>
          <p:cNvPr id="10" name="Prompts"/>
          <p:cNvSpPr txBox="1"/>
          <p:nvPr/>
        </p:nvSpPr>
        <p:spPr>
          <a:xfrm>
            <a:off x="834847" y="1980590"/>
            <a:ext cx="10424160" cy="4018695"/>
          </a:xfrm>
          <a:prstGeom prst="rect">
            <a:avLst/>
          </a:prstGeom>
          <a:noFill/>
          <a:ln/>
        </p:spPr>
        <p:txBody>
          <a:bodyPr wrap="square" lIns="0" tIns="0" rIns="0" bIns="0" rtlCol="0" anchor="t"/>
          <a:lstStyle/>
          <a:p>
            <a:r>
              <a:rPr lang="en-IN" sz="1500" b="1" dirty="0"/>
              <a:t>Hardware requirements:</a:t>
            </a:r>
            <a:br>
              <a:rPr lang="en-IN" sz="1500" dirty="0"/>
            </a:br>
            <a:r>
              <a:rPr lang="en-IN" sz="1500" dirty="0"/>
              <a:t>• Laptop/computer for developing the prototype.</a:t>
            </a:r>
            <a:br>
              <a:rPr lang="en-IN" sz="1500" dirty="0"/>
            </a:br>
            <a:r>
              <a:rPr lang="en-IN" sz="1500" dirty="0"/>
              <a:t>• Smartphone for demonstration at the farmer’s end.</a:t>
            </a:r>
            <a:br>
              <a:rPr lang="en-IN" sz="1500" dirty="0"/>
            </a:br>
            <a:r>
              <a:rPr lang="en-IN" sz="1500" dirty="0"/>
              <a:t>• Internet connection; no specific agricultural sensors are required for the initial prototype.</a:t>
            </a:r>
          </a:p>
          <a:p>
            <a:r>
              <a:rPr lang="en-IN" sz="1500" b="1" dirty="0"/>
              <a:t>Software requirements:</a:t>
            </a:r>
            <a:br>
              <a:rPr lang="en-IN" sz="1500" dirty="0"/>
            </a:br>
            <a:r>
              <a:rPr lang="en-IN" sz="1500" dirty="0"/>
              <a:t>• Python for harvest forecasting and implementing rule-based analysis.</a:t>
            </a:r>
            <a:br>
              <a:rPr lang="en-IN" sz="1500" dirty="0"/>
            </a:br>
            <a:r>
              <a:rPr lang="en-IN" sz="1500" dirty="0"/>
              <a:t>• </a:t>
            </a:r>
            <a:r>
              <a:rPr lang="en-IN" sz="1500" dirty="0" err="1"/>
              <a:t>Streamlit</a:t>
            </a:r>
            <a:r>
              <a:rPr lang="en-IN" sz="1500" dirty="0"/>
              <a:t> for deploying a prototype dashboard and user interface.</a:t>
            </a:r>
            <a:br>
              <a:rPr lang="en-IN" sz="1500" dirty="0"/>
            </a:br>
            <a:r>
              <a:rPr lang="en-IN" sz="1500" dirty="0"/>
              <a:t>• CSV/SQLite for storing sowing records and sample datasets.</a:t>
            </a:r>
            <a:br>
              <a:rPr lang="en-IN" sz="1500" dirty="0"/>
            </a:br>
            <a:r>
              <a:rPr lang="en-IN" sz="1500" dirty="0"/>
              <a:t>• Mandi’s historical data and publicly available weather data.</a:t>
            </a:r>
          </a:p>
          <a:p>
            <a:r>
              <a:rPr lang="en-IN" sz="1500" b="1" dirty="0"/>
              <a:t>Other Resources:</a:t>
            </a:r>
            <a:br>
              <a:rPr lang="en-IN" sz="1500" dirty="0"/>
            </a:br>
            <a:r>
              <a:rPr lang="en-IN" sz="1500" dirty="0"/>
              <a:t>• Four-member student team (development + research).</a:t>
            </a:r>
            <a:br>
              <a:rPr lang="en-IN" sz="1500" dirty="0"/>
            </a:br>
            <a:r>
              <a:rPr lang="en-IN" sz="1500" dirty="0"/>
              <a:t>• Access to agricultural experts or FPO representatives for feedback.</a:t>
            </a:r>
            <a:br>
              <a:rPr lang="en-IN" sz="1500" dirty="0"/>
            </a:br>
            <a:r>
              <a:rPr lang="en-IN" sz="1500" dirty="0"/>
              <a:t>• Farmers’ consent to collect their planting intentions.</a:t>
            </a:r>
          </a:p>
          <a:p>
            <a:r>
              <a:rPr lang="en-IN" sz="1500" b="1" dirty="0"/>
              <a:t>Future scope:</a:t>
            </a:r>
          </a:p>
          <a:p>
            <a:r>
              <a:rPr lang="en-IN" sz="1500" b="1" dirty="0"/>
              <a:t> </a:t>
            </a:r>
            <a:r>
              <a:rPr lang="en-IN" sz="1500" dirty="0"/>
              <a:t>Tamil voice/WhatsApp interface and AI-based glut forecasting.</a:t>
            </a:r>
          </a:p>
          <a:p>
            <a:pPr marL="279400" indent="-279400">
              <a:spcAft>
                <a:spcPts val="1000"/>
              </a:spcAft>
              <a:buClr>
                <a:schemeClr val="accent1"/>
              </a:buClr>
              <a:buSzPct val="100000"/>
              <a:buChar char="•"/>
            </a:pPr>
            <a:endParaRPr lang="en-US" sz="1500" dirty="0"/>
          </a:p>
        </p:txBody>
      </p:sp>
      <p:sp>
        <p:nvSpPr>
          <p:cNvPr id="25" name="Slide Number Placeholder 0"/>
          <p:cNvSpPr>
            <a:spLocks noGrp="1"/>
          </p:cNvSpPr>
          <p:nvPr>
            <p:ph type="sldNum" sz="quarter" idx="4294967295"/>
          </p:nvPr>
        </p:nvSpPr>
        <p:spPr>
          <a:xfrm>
            <a:off x="11259007" y="6409944"/>
            <a:ext cx="457200" cy="395935"/>
          </a:xfrm>
          <a:prstGeom prst="rect">
            <a:avLst/>
          </a:prstGeom>
          <a:extLst>
            <a:ext uri="{C572A759-6A51-4108-AA02-DFA0A04FC94B}">
              <ma14:wrappingTextBoxFlag xmlns="" xmlns:ma14="http://schemas.microsoft.com/office/mac/drawingml/2011/main" val="0"/>
            </a:ext>
          </a:extLst>
        </p:spPr>
        <p:txBody>
          <a:bodyPr lIns="0" tIns="0" rIns="0" bIns="0" anchor="ctr"/>
          <a:lstStyle>
            <a:lvl1pPr>
              <a:defRPr sz="1100">
                <a:solidFill>
                  <a:schemeClr val="tx2"/>
                </a:solidFill>
                <a:latin typeface="Calibri"/>
                <a:ea typeface="Calibri"/>
                <a:cs typeface="Calibri"/>
              </a:defRPr>
            </a:lvl1pPr>
          </a:lstStyle>
          <a:p>
            <a:pPr algn="ctr"/>
            <a:fld id="{F7021451-1387-4CA6-816F-3879F97B5CBC}" type="slidenum">
              <a:rPr lang="en-US" b="1"/>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7"/>
          <p:cNvSpPr>
            <a:spLocks noGrp="1"/>
          </p:cNvSpPr>
          <p:nvPr>
            <p:ph type="title" idx="108" hasCustomPrompt="1"/>
          </p:nvPr>
        </p:nvSpPr>
        <p:spPr>
          <a:xfrm>
            <a:off x="3246120" y="320040"/>
            <a:ext cx="7498080" cy="822960"/>
          </a:xfrm>
          <a:prstGeom prst="rect">
            <a:avLst/>
          </a:prstGeom>
          <a:noFill/>
          <a:ln/>
        </p:spPr>
        <p:txBody>
          <a:bodyPr wrap="square" lIns="0" tIns="0" rIns="0" bIns="0" rtlCol="0" anchor="ctr"/>
          <a:lstStyle/>
          <a:p>
            <a:pPr marL="0" indent="0" algn="ctr">
              <a:buNone/>
            </a:pPr>
            <a:r>
              <a:rPr lang="en-US" sz="2400" b="1" kern="0" spc="100" dirty="0">
                <a:solidFill>
                  <a:schemeClr val="tx2"/>
                </a:solidFill>
                <a:latin typeface="Cambria" pitchFamily="34" charset="0"/>
                <a:ea typeface="Cambria" pitchFamily="34" charset="-122"/>
                <a:cs typeface="Cambria" pitchFamily="34" charset="-120"/>
              </a:rPr>
              <a:t>INITIAL DIRECTION &amp; EXPECTED OUTCOME</a:t>
            </a:r>
            <a:endParaRPr lang="en-US" sz="2400" dirty="0"/>
          </a:p>
        </p:txBody>
      </p:sp>
      <p:sp>
        <p:nvSpPr>
          <p:cNvPr id="3" name="Team Badge"/>
          <p:cNvSpPr/>
          <p:nvPr/>
        </p:nvSpPr>
        <p:spPr>
          <a:xfrm>
            <a:off x="457200" y="320040"/>
            <a:ext cx="2606040" cy="822960"/>
          </a:xfrm>
          <a:prstGeom prst="roundRect">
            <a:avLst>
              <a:gd name="adj" fmla="val 13333"/>
            </a:avLst>
          </a:prstGeom>
          <a:solidFill>
            <a:schemeClr val="bg1"/>
          </a:solidFill>
          <a:ln w="9525">
            <a:solidFill>
              <a:schemeClr val="accent6"/>
            </a:solidFill>
            <a:prstDash val="solid"/>
          </a:ln>
        </p:spPr>
      </p:sp>
      <p:sp>
        <p:nvSpPr>
          <p:cNvPr id="4" name="Team Icon Hex"/>
          <p:cNvSpPr/>
          <p:nvPr/>
        </p:nvSpPr>
        <p:spPr>
          <a:xfrm>
            <a:off x="603504" y="457200"/>
            <a:ext cx="630936" cy="548640"/>
          </a:xfrm>
          <a:prstGeom prst="hexagon">
            <a:avLst/>
          </a:prstGeom>
          <a:solidFill>
            <a:schemeClr val="bg2"/>
          </a:solidFill>
          <a:ln w="9525">
            <a:solidFill>
              <a:schemeClr val="accent6"/>
            </a:solidFill>
            <a:prstDash val="solid"/>
          </a:ln>
        </p:spPr>
      </p:sp>
      <p:pic>
        <p:nvPicPr>
          <p:cNvPr id="5" name="Team Icon" descr="Team icon"/>
          <p:cNvPicPr>
            <a:picLocks noChangeAspect="1"/>
          </p:cNvPicPr>
          <p:nvPr/>
        </p:nvPicPr>
        <p:blipFill>
          <a:blip r:embed="rId3"/>
          <a:stretch>
            <a:fillRect/>
          </a:stretch>
        </p:blipFill>
        <p:spPr>
          <a:xfrm>
            <a:off x="736092" y="548640"/>
            <a:ext cx="365760" cy="365760"/>
          </a:xfrm>
          <a:prstGeom prst="rect">
            <a:avLst/>
          </a:prstGeom>
        </p:spPr>
      </p:pic>
      <p:sp>
        <p:nvSpPr>
          <p:cNvPr id="6" name="Team Name"/>
          <p:cNvSpPr txBox="1"/>
          <p:nvPr/>
        </p:nvSpPr>
        <p:spPr>
          <a:xfrm>
            <a:off x="1371600" y="384048"/>
            <a:ext cx="1627632" cy="694944"/>
          </a:xfrm>
          <a:prstGeom prst="rect">
            <a:avLst/>
          </a:prstGeom>
          <a:noFill/>
          <a:ln/>
        </p:spPr>
        <p:txBody>
          <a:bodyPr wrap="square" lIns="0" tIns="0" rIns="0" bIns="0" rtlCol="0" anchor="ctr">
            <a:normAutofit/>
          </a:bodyPr>
          <a:lstStyle/>
          <a:p>
            <a:pPr marL="0" indent="0">
              <a:buNone/>
            </a:pPr>
            <a:r>
              <a:rPr lang="en-US" sz="900" b="1" kern="0" spc="300" dirty="0">
                <a:solidFill>
                  <a:schemeClr val="accent5"/>
                </a:solidFill>
              </a:rPr>
              <a:t>TEAM</a:t>
            </a:r>
            <a:endParaRPr lang="en-US" sz="900" dirty="0"/>
          </a:p>
          <a:p>
            <a:pPr marL="0" indent="0">
              <a:buNone/>
            </a:pPr>
            <a:r>
              <a:rPr lang="en-US" sz="1500" b="1" dirty="0">
                <a:solidFill>
                  <a:schemeClr val="accent1"/>
                </a:solidFill>
              </a:rPr>
              <a:t>TECH FORGE 6</a:t>
            </a:r>
            <a:endParaRPr lang="en-US" sz="900" dirty="0"/>
          </a:p>
        </p:txBody>
      </p:sp>
      <p:sp>
        <p:nvSpPr>
          <p:cNvPr id="7" name="Lead Icon Hex"/>
          <p:cNvSpPr/>
          <p:nvPr/>
        </p:nvSpPr>
        <p:spPr>
          <a:xfrm>
            <a:off x="548640" y="1463040"/>
            <a:ext cx="457200" cy="395935"/>
          </a:xfrm>
          <a:prstGeom prst="hexagon">
            <a:avLst/>
          </a:prstGeom>
          <a:solidFill>
            <a:schemeClr val="accent3"/>
          </a:solidFill>
          <a:ln/>
        </p:spPr>
      </p:sp>
      <p:pic>
        <p:nvPicPr>
          <p:cNvPr id="8" name="Lead Icon" descr="Lightbulb icon"/>
          <p:cNvPicPr>
            <a:picLocks noChangeAspect="1"/>
          </p:cNvPicPr>
          <p:nvPr/>
        </p:nvPicPr>
        <p:blipFill>
          <a:blip r:embed="rId4"/>
          <a:stretch>
            <a:fillRect/>
          </a:stretch>
        </p:blipFill>
        <p:spPr>
          <a:xfrm>
            <a:off x="640080" y="1523390"/>
            <a:ext cx="274320" cy="274320"/>
          </a:xfrm>
          <a:prstGeom prst="rect">
            <a:avLst/>
          </a:prstGeom>
        </p:spPr>
      </p:pic>
      <p:sp>
        <p:nvSpPr>
          <p:cNvPr id="9" name="Lead Text"/>
          <p:cNvSpPr txBox="1"/>
          <p:nvPr/>
        </p:nvSpPr>
        <p:spPr>
          <a:xfrm>
            <a:off x="1170432" y="1417320"/>
            <a:ext cx="9601200" cy="502920"/>
          </a:xfrm>
          <a:prstGeom prst="rect">
            <a:avLst/>
          </a:prstGeom>
          <a:noFill/>
          <a:ln/>
        </p:spPr>
        <p:txBody>
          <a:bodyPr wrap="square" lIns="0" tIns="0" rIns="0" bIns="0" rtlCol="0" anchor="ctr"/>
          <a:lstStyle/>
          <a:p>
            <a:pPr marL="0" indent="0">
              <a:buNone/>
            </a:pPr>
            <a:r>
              <a:rPr lang="en-US" sz="1800" b="1" dirty="0">
                <a:solidFill>
                  <a:schemeClr val="accent2"/>
                </a:solidFill>
              </a:rPr>
              <a:t>What Is Your Expected Outcome?</a:t>
            </a:r>
            <a:endParaRPr lang="en-US" sz="1800" dirty="0"/>
          </a:p>
        </p:txBody>
      </p:sp>
      <p:sp>
        <p:nvSpPr>
          <p:cNvPr id="10" name="Prompts"/>
          <p:cNvSpPr txBox="1"/>
          <p:nvPr/>
        </p:nvSpPr>
        <p:spPr>
          <a:xfrm>
            <a:off x="914400" y="1847161"/>
            <a:ext cx="10424160" cy="3291841"/>
          </a:xfrm>
          <a:prstGeom prst="rect">
            <a:avLst/>
          </a:prstGeom>
          <a:noFill/>
          <a:ln/>
        </p:spPr>
        <p:txBody>
          <a:bodyPr wrap="square" lIns="0" tIns="0" rIns="0" bIns="0" rtlCol="0" anchor="t"/>
          <a:lstStyle/>
          <a:p>
            <a:endParaRPr lang="en-IN" sz="1500" dirty="0"/>
          </a:p>
          <a:p>
            <a:r>
              <a:rPr lang="en-IN" sz="1500" b="1" dirty="0"/>
              <a:t>What We Intend to Do:</a:t>
            </a:r>
            <a:br>
              <a:rPr lang="en-IN" sz="1500" dirty="0"/>
            </a:br>
            <a:r>
              <a:rPr lang="en-IN" sz="1500" dirty="0"/>
              <a:t>Build a crop clash concept at the level of the taluk, wherein farmers can report their proposed sowings, along with estimated sowing dates,</a:t>
            </a:r>
            <a:br>
              <a:rPr lang="en-IN" sz="1500" dirty="0"/>
            </a:br>
            <a:r>
              <a:rPr lang="en-IN" sz="1500" dirty="0"/>
              <a:t>calculate their likely harvest window and see if there are other farmers planning to sow similar crops around the same time, and suggest alternate windows, if feasible.</a:t>
            </a:r>
          </a:p>
          <a:p>
            <a:r>
              <a:rPr lang="en-IN" sz="1500" b="1" dirty="0"/>
              <a:t>What We Want to Improve:</a:t>
            </a:r>
            <a:br>
              <a:rPr lang="en-IN" sz="1500" dirty="0"/>
            </a:br>
            <a:r>
              <a:rPr lang="en-IN" sz="1500" dirty="0"/>
              <a:t>A view into future supply of produce</a:t>
            </a:r>
            <a:br>
              <a:rPr lang="en-IN" sz="1500" dirty="0"/>
            </a:br>
            <a:r>
              <a:rPr lang="en-IN" sz="1500" dirty="0"/>
              <a:t>So that farmers can get ahead of gluts in supply and manage their sowings better</a:t>
            </a:r>
            <a:br>
              <a:rPr lang="en-IN" sz="1500" dirty="0"/>
            </a:br>
            <a:r>
              <a:rPr lang="en-IN" sz="1500" b="1" dirty="0"/>
              <a:t>Expected Successful Outcome:</a:t>
            </a:r>
          </a:p>
          <a:p>
            <a:r>
              <a:rPr lang="en-IN" sz="1500" dirty="0"/>
              <a:t>A proof of concept with dummy data, illustrating how much harvest congestion there is (low, medium, high), how farmers could act on the information to avoid it, and how reliable each of these alerts would be.</a:t>
            </a:r>
            <a:br>
              <a:rPr lang="en-IN" sz="1500" dirty="0"/>
            </a:br>
            <a:r>
              <a:rPr lang="en-IN" sz="1500" b="1" dirty="0"/>
              <a:t>A long-term goal:</a:t>
            </a:r>
          </a:p>
          <a:p>
            <a:r>
              <a:rPr lang="en-IN" sz="1500" dirty="0"/>
              <a:t> Lessening the impact of large harvests of similar crops by helping farmers spread out their harvests.</a:t>
            </a:r>
          </a:p>
          <a:p>
            <a:pPr marL="279400" indent="-279400">
              <a:spcAft>
                <a:spcPts val="1000"/>
              </a:spcAft>
              <a:buClr>
                <a:schemeClr val="accent1"/>
              </a:buClr>
              <a:buSzPct val="100000"/>
              <a:buChar char="•"/>
            </a:pPr>
            <a:endParaRPr lang="en-US" sz="1500" dirty="0"/>
          </a:p>
        </p:txBody>
      </p:sp>
      <p:sp>
        <p:nvSpPr>
          <p:cNvPr id="25" name="Slide Number Placeholder 0"/>
          <p:cNvSpPr>
            <a:spLocks noGrp="1"/>
          </p:cNvSpPr>
          <p:nvPr>
            <p:ph type="sldNum" sz="quarter" idx="4294967295"/>
          </p:nvPr>
        </p:nvSpPr>
        <p:spPr>
          <a:xfrm>
            <a:off x="11259007" y="6409944"/>
            <a:ext cx="457200" cy="395935"/>
          </a:xfrm>
          <a:prstGeom prst="rect">
            <a:avLst/>
          </a:prstGeom>
          <a:extLst>
            <a:ext uri="{C572A759-6A51-4108-AA02-DFA0A04FC94B}">
              <ma14:wrappingTextBoxFlag xmlns="" xmlns:ma14="http://schemas.microsoft.com/office/mac/drawingml/2011/main" val="0"/>
            </a:ext>
          </a:extLst>
        </p:spPr>
        <p:txBody>
          <a:bodyPr lIns="0" tIns="0" rIns="0" bIns="0" anchor="ctr"/>
          <a:lstStyle>
            <a:lvl1pPr>
              <a:defRPr sz="1100">
                <a:solidFill>
                  <a:schemeClr val="tx2"/>
                </a:solidFill>
                <a:latin typeface="Calibri"/>
                <a:ea typeface="Calibri"/>
                <a:cs typeface="Calibri"/>
              </a:defRPr>
            </a:lvl1pPr>
          </a:lstStyle>
          <a:p>
            <a:pPr algn="ctr"/>
            <a:fld id="{F7021451-1387-4CA6-816F-3879F97B5CBC}" type="slidenum">
              <a:rPr lang="en-US" b="1"/>
              <a:t>8</a:t>
            </a:fld>
            <a:endParaRPr lang="en-US"/>
          </a:p>
        </p:txBody>
      </p:sp>
    </p:spTree>
  </p:cSld>
  <p:clrMapOvr>
    <a:masterClrMapping/>
  </p:clrMapOvr>
</p:sld>
</file>

<file path=ppt/theme/theme1.xml><?xml version="1.0" encoding="utf-8"?>
<a:theme xmlns:a="http://schemas.openxmlformats.org/drawingml/2006/main" name="Genesis Ideathon">
  <a:themeElements>
    <a:clrScheme name="Genesis Ideathon">
      <a:dk1>
        <a:srgbClr val="0E2A2F"/>
      </a:dk1>
      <a:lt1>
        <a:srgbClr val="FFFFFF"/>
      </a:lt1>
      <a:dk2>
        <a:srgbClr val="052B35"/>
      </a:dk2>
      <a:lt2>
        <a:srgbClr val="F3F8F5"/>
      </a:lt2>
      <a:accent1>
        <a:srgbClr val="026855"/>
      </a:accent1>
      <a:accent2>
        <a:srgbClr val="094542"/>
      </a:accent2>
      <a:accent3>
        <a:srgbClr val="7AC143"/>
      </a:accent3>
      <a:accent4>
        <a:srgbClr val="4FA278"/>
      </a:accent4>
      <a:accent5>
        <a:srgbClr val="5B6F6B"/>
      </a:accent5>
      <a:accent6>
        <a:srgbClr val="D3E6DD"/>
      </a:accent6>
      <a:hlink>
        <a:srgbClr val="026855"/>
      </a:hlink>
      <a:folHlink>
        <a:srgbClr val="5B6F6B"/>
      </a:folHlink>
    </a:clrScheme>
    <a:fontScheme name="Genesis Ideathon">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214</TotalTime>
  <Words>1250</Words>
  <Application>Microsoft Office PowerPoint</Application>
  <PresentationFormat>Widescreen</PresentationFormat>
  <Paragraphs>100</Paragraphs>
  <Slides>8</Slides>
  <Notes>8</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8</vt:i4>
      </vt:variant>
    </vt:vector>
  </HeadingPairs>
  <TitlesOfParts>
    <vt:vector size="12" baseType="lpstr">
      <vt:lpstr>Arial</vt:lpstr>
      <vt:lpstr>Calibri</vt:lpstr>
      <vt:lpstr>Cambria</vt:lpstr>
      <vt:lpstr>Genesis Ideathon</vt:lpstr>
      <vt:lpstr>PowerPoint Presentation</vt:lpstr>
      <vt:lpstr>DOMAIN PROBLEM IN OUR WORDS</vt:lpstr>
      <vt:lpstr>WHO IS AFFECTED?</vt:lpstr>
      <vt:lpstr>CURRENT SITUATION &amp; CONTEXT</vt:lpstr>
      <vt:lpstr>KEY CHALLENGES</vt:lpstr>
      <vt:lpstr>EXISTING SOLUTIONS / APPROACHES</vt:lpstr>
      <vt:lpstr>PROBLEM INSIGHTS &amp; OPPORTUNITY AREAS</vt:lpstr>
      <vt:lpstr>INITIAL DIRECTION &amp; EXPECTED OUTCOME</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Genesis Ideathon – Pre-Ideathon Template</dc:title>
  <dc:subject>PptxGenJS Presentation</dc:subject>
  <dc:creator>Genesis Ideathon</dc:creator>
  <cp:lastModifiedBy>SriVarshan M</cp:lastModifiedBy>
  <cp:revision>5</cp:revision>
  <dcterms:created xsi:type="dcterms:W3CDTF">2026-10-07T15:27:40Z</dcterms:created>
  <dcterms:modified xsi:type="dcterms:W3CDTF">2026-10-09T16:09:14Z</dcterms:modified>
</cp:coreProperties>
</file>